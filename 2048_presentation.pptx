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2" r:id="rId7"/>
    <p:sldId id="261" r:id="rId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293B"/>
    <a:srgbClr val="A7C7FB"/>
    <a:srgbClr val="0F17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1747" autoAdjust="0"/>
  </p:normalViewPr>
  <p:slideViewPr>
    <p:cSldViewPr snapToGrid="0" snapToObjects="1">
      <p:cViewPr>
        <p:scale>
          <a:sx n="136" d="100"/>
          <a:sy n="136" d="100"/>
        </p:scale>
        <p:origin x="1210" y="11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13564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Bonjour à tous, je vais vous présenter mon projet fil rouge : </a:t>
            </a: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une implémentation du jeu 2048 en langage C en console, développée dans le cadre du module langages compilés.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L'objectif principal était de mettre en pratique la gestion mémoire en C avec </a:t>
            </a:r>
            <a:r>
              <a:rPr lang="fr-FR" sz="1200" kern="1200" dirty="0" err="1">
                <a:solidFill>
                  <a:schemeClr val="tx1"/>
                </a:solidFill>
                <a:effectLst/>
                <a:latin typeface="+mn-lt"/>
                <a:ea typeface="+mn-ea"/>
                <a:cs typeface="+mn-cs"/>
              </a:rPr>
              <a:t>malloc</a:t>
            </a:r>
            <a:r>
              <a:rPr lang="fr-FR" sz="1200" kern="1200" dirty="0">
                <a:solidFill>
                  <a:schemeClr val="tx1"/>
                </a:solidFill>
                <a:effectLst/>
                <a:latin typeface="+mn-lt"/>
                <a:ea typeface="+mn-ea"/>
                <a:cs typeface="+mn-cs"/>
              </a:rPr>
              <a:t>, </a:t>
            </a:r>
            <a:r>
              <a:rPr lang="fr-FR" sz="1200" kern="1200" dirty="0" err="1">
                <a:solidFill>
                  <a:schemeClr val="tx1"/>
                </a:solidFill>
                <a:effectLst/>
                <a:latin typeface="+mn-lt"/>
                <a:ea typeface="+mn-ea"/>
                <a:cs typeface="+mn-cs"/>
              </a:rPr>
              <a:t>calloc</a:t>
            </a:r>
            <a:r>
              <a:rPr lang="fr-FR" sz="1200" kern="1200" dirty="0">
                <a:solidFill>
                  <a:schemeClr val="tx1"/>
                </a:solidFill>
                <a:effectLst/>
                <a:latin typeface="+mn-lt"/>
                <a:ea typeface="+mn-ea"/>
                <a:cs typeface="+mn-cs"/>
              </a:rPr>
              <a:t> et free, </a:t>
            </a: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tout en implémentant la logique complète du jeu et en structurant le code proprement sur plusieurs fichiers.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Le jeu se joue avec les touches Z Q S D. </a:t>
            </a: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À chaque coup, les tuiles se déplacent, les identiques fusionnent et doublent leur valeur. </a:t>
            </a: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Un 2 apparaît ensuite dans une case vide. </a:t>
            </a: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On gagne en atteignant 2048, on perd quand plus aucun mouvement n'est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En plus du jeu de base, j'ai ajouté la possibilité de choisir la taille de la grille, </a:t>
            </a: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un système de sauvegarde et chargement, et un affichage coloré en console avec les codes ANSI</a:t>
            </a: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Et enfin un score qui s’affiche et se calcule automatiquement.</a:t>
            </a:r>
            <a:br>
              <a:rPr lang="fr-FR" sz="1200" kern="1200" dirty="0">
                <a:solidFill>
                  <a:schemeClr val="tx1"/>
                </a:solidFill>
                <a:effectLst/>
                <a:latin typeface="+mn-lt"/>
                <a:ea typeface="+mn-ea"/>
                <a:cs typeface="+mn-cs"/>
              </a:rPr>
            </a:b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FAIRE LA DEMO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J'ai rencontré trois difficultés principales. </a:t>
            </a:r>
            <a:br>
              <a:rPr lang="fr-FR" dirty="0"/>
            </a:br>
            <a:r>
              <a:rPr lang="fr-FR" dirty="0"/>
              <a:t>La première c'est le bug de saut des tuiles — au départ une tuile pouvait fusionner deux fois de suite. Je l'ai résolu en découpant chaque déplacement en 3 étapes : tasser, fusionner, puis retasser. </a:t>
            </a:r>
            <a:br>
              <a:rPr lang="fr-FR" dirty="0"/>
            </a:br>
            <a:br>
              <a:rPr lang="fr-FR" dirty="0"/>
            </a:br>
            <a:r>
              <a:rPr lang="fr-FR" dirty="0"/>
              <a:t>Ensuite les déplacements haut et bas étaient plus compliqués car il fallait travailler colonne par colonne au lieu de ligne par ligne, donc j'ai transposé la même logique. </a:t>
            </a:r>
            <a:br>
              <a:rPr lang="fr-FR" dirty="0"/>
            </a:br>
            <a:br>
              <a:rPr lang="fr-FR" dirty="0"/>
            </a:br>
            <a:r>
              <a:rPr lang="fr-FR" dirty="0"/>
              <a:t>Et enfin pour la sauvegarde, le problème c'est que si on sauvegarde une grille 5x5 et qu'on recharge en 4x4, ça plante. J'ai donc stocké la taille dans le fichier save.txt et je recrée la grille à la bonne dimension avant de charger les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7CD90-BF3A-F763-083E-F9F6E60A0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E46C95-EB7C-539A-29E7-F3F6EA4419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3297D9-B704-2B00-93E0-31F46FC8B5DB}"/>
              </a:ext>
            </a:extLst>
          </p:cNvPr>
          <p:cNvSpPr>
            <a:spLocks noGrp="1"/>
          </p:cNvSpPr>
          <p:nvPr>
            <p:ph type="body" idx="1"/>
          </p:nvPr>
        </p:nvSpPr>
        <p:spPr/>
        <p:txBody>
          <a:bodyPr/>
          <a:lstStyle/>
          <a:p>
            <a:r>
              <a:rPr lang="fr-FR" dirty="0"/>
              <a:t>Ma partie de code préférée c'est la fonction </a:t>
            </a:r>
            <a:r>
              <a:rPr lang="fr-FR" dirty="0" err="1"/>
              <a:t>ajouter_tuile</a:t>
            </a:r>
            <a:r>
              <a:rPr lang="fr-FR" dirty="0"/>
              <a:t>. </a:t>
            </a:r>
            <a:br>
              <a:rPr lang="fr-FR" dirty="0"/>
            </a:br>
            <a:r>
              <a:rPr lang="fr-FR" dirty="0"/>
              <a:t>Ce que j'aime c'est l'approche algorithmique : plutôt que de chercher une case vide au hasard en boucle, je recense d'abord toutes les cases vides dans un tableau appelé libres, et j'initialise une variable n qui va compter </a:t>
            </a:r>
            <a:br>
              <a:rPr lang="fr-FR" dirty="0"/>
            </a:br>
            <a:r>
              <a:rPr lang="fr-FR" dirty="0"/>
              <a:t>le nombre de cases vides trouvées au fur et à mesure. </a:t>
            </a:r>
            <a:br>
              <a:rPr lang="fr-FR" dirty="0"/>
            </a:br>
            <a:r>
              <a:rPr lang="fr-FR" dirty="0"/>
              <a:t>Ensuite je parcours toute la grille, et à chaque fois que je tombe sur une case à zéro, je stocke ses coordonnées et j'incrémente n. </a:t>
            </a:r>
            <a:br>
              <a:rPr lang="fr-FR" dirty="0"/>
            </a:br>
            <a:r>
              <a:rPr lang="fr-FR" dirty="0"/>
              <a:t>Une fois le parcours terminé, je tire un seul nombre aléatoire entre 0 et n-1, ce qui me donne directement une case vide au hasard. C'est plus propre et ça évite de boucler indéfiniment si la grille est presque pleine.</a:t>
            </a:r>
            <a:endParaRPr lang="en-US" dirty="0"/>
          </a:p>
        </p:txBody>
      </p:sp>
      <p:sp>
        <p:nvSpPr>
          <p:cNvPr id="4" name="Slide Number Placeholder 3">
            <a:extLst>
              <a:ext uri="{FF2B5EF4-FFF2-40B4-BE49-F238E27FC236}">
                <a16:creationId xmlns:a16="http://schemas.microsoft.com/office/drawing/2014/main" id="{C06A1241-9450-2563-E91A-E2667216BC58}"/>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2795586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sz="1200" kern="1200" dirty="0">
                <a:solidFill>
                  <a:schemeClr val="tx1"/>
                </a:solidFill>
                <a:effectLst/>
                <a:latin typeface="+mn-lt"/>
                <a:ea typeface="+mn-ea"/>
                <a:cs typeface="+mn-cs"/>
              </a:rPr>
              <a:t>Pour conclure, ce projet m'a permis de vraiment comprendre la gestion mémoire en C et de voir concrètement pourquoi il faut libérer ce qu'on alloue. </a:t>
            </a: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Si j'avais eu plus de temps, j'aurais aimé ajouter une interface graphique ou une IA. </a:t>
            </a:r>
            <a:br>
              <a:rPr lang="fr-FR" sz="1200" kern="1200" dirty="0">
                <a:solidFill>
                  <a:schemeClr val="tx1"/>
                </a:solidFill>
                <a:effectLst/>
                <a:latin typeface="+mn-lt"/>
                <a:ea typeface="+mn-ea"/>
                <a:cs typeface="+mn-cs"/>
              </a:rPr>
            </a:b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Merci pour votre attention !</a:t>
            </a:r>
            <a:br>
              <a:rPr lang="fr-FR" sz="1200" kern="1200" dirty="0">
                <a:solidFill>
                  <a:schemeClr val="tx1"/>
                </a:solidFill>
                <a:effectLst/>
                <a:latin typeface="+mn-lt"/>
                <a:ea typeface="+mn-ea"/>
                <a:cs typeface="+mn-cs"/>
              </a:rPr>
            </a:br>
            <a:br>
              <a:rPr lang="fr-FR" sz="1200" kern="1200" dirty="0">
                <a:solidFill>
                  <a:schemeClr val="tx1"/>
                </a:solidFill>
                <a:effectLst/>
                <a:latin typeface="+mn-lt"/>
                <a:ea typeface="+mn-ea"/>
                <a:cs typeface="+mn-cs"/>
              </a:rPr>
            </a:br>
            <a:r>
              <a:rPr lang="fr-FR" sz="1200" kern="1200" dirty="0">
                <a:solidFill>
                  <a:schemeClr val="tx1"/>
                </a:solidFill>
                <a:effectLst/>
                <a:latin typeface="+mn-lt"/>
                <a:ea typeface="+mn-ea"/>
                <a:cs typeface="+mn-cs"/>
              </a:rPr>
              <a:t>FIN DE LA PRESENTATION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3.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3B82F6"/>
          </a:solidFill>
          <a:ln/>
        </p:spPr>
        <p:txBody>
          <a:bodyPr/>
          <a:lstStyle/>
          <a:p>
            <a:endParaRPr lang="fr-FR"/>
          </a:p>
        </p:txBody>
      </p:sp>
      <p:sp>
        <p:nvSpPr>
          <p:cNvPr id="3" name="Text 1"/>
          <p:cNvSpPr/>
          <p:nvPr/>
        </p:nvSpPr>
        <p:spPr>
          <a:xfrm>
            <a:off x="548640" y="822960"/>
            <a:ext cx="5303520" cy="109728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Projet 2048 en C</a:t>
            </a:r>
            <a:endParaRPr lang="en-US" sz="4000" dirty="0"/>
          </a:p>
        </p:txBody>
      </p:sp>
      <p:sp>
        <p:nvSpPr>
          <p:cNvPr id="4" name="Text 2"/>
          <p:cNvSpPr/>
          <p:nvPr/>
        </p:nvSpPr>
        <p:spPr>
          <a:xfrm>
            <a:off x="548640" y="1874520"/>
            <a:ext cx="5303520" cy="457200"/>
          </a:xfrm>
          <a:prstGeom prst="rect">
            <a:avLst/>
          </a:prstGeom>
          <a:noFill/>
          <a:ln/>
        </p:spPr>
        <p:txBody>
          <a:bodyPr wrap="square" rtlCol="0" anchor="ctr"/>
          <a:lstStyle/>
          <a:p>
            <a:pPr marL="0" indent="0">
              <a:buNone/>
            </a:pPr>
            <a:r>
              <a:rPr lang="en-US" sz="1600" dirty="0">
                <a:solidFill>
                  <a:srgbClr val="94A3B8"/>
                </a:solidFill>
                <a:latin typeface="Calibri" pitchFamily="34" charset="0"/>
                <a:ea typeface="Calibri" pitchFamily="34" charset="-122"/>
                <a:cs typeface="Calibri" pitchFamily="34" charset="-120"/>
              </a:rPr>
              <a:t>Projet fil rouge — Langages compilés</a:t>
            </a:r>
            <a:endParaRPr lang="en-US" sz="1600" dirty="0"/>
          </a:p>
        </p:txBody>
      </p:sp>
      <p:sp>
        <p:nvSpPr>
          <p:cNvPr id="5" name="Text 3"/>
          <p:cNvSpPr/>
          <p:nvPr/>
        </p:nvSpPr>
        <p:spPr>
          <a:xfrm>
            <a:off x="351938" y="3258348"/>
            <a:ext cx="5303520" cy="365760"/>
          </a:xfrm>
          <a:prstGeom prst="rect">
            <a:avLst/>
          </a:prstGeom>
          <a:noFill/>
          <a:ln/>
        </p:spPr>
        <p:txBody>
          <a:bodyPr wrap="square" rtlCol="0" anchor="ctr"/>
          <a:lstStyle/>
          <a:p>
            <a:pPr marL="0" indent="0">
              <a:buNone/>
            </a:pPr>
            <a:r>
              <a:rPr lang="en-US" sz="1300" dirty="0">
                <a:solidFill>
                  <a:srgbClr val="64748B"/>
                </a:solidFill>
                <a:latin typeface="Calibri" pitchFamily="34" charset="0"/>
                <a:ea typeface="Calibri" pitchFamily="34" charset="-122"/>
                <a:cs typeface="Calibri" pitchFamily="34" charset="-120"/>
              </a:rPr>
              <a:t>Hugo SCHMALTZ  ·  </a:t>
            </a:r>
            <a:r>
              <a:rPr lang="en-US" sz="1300" dirty="0" err="1">
                <a:solidFill>
                  <a:srgbClr val="64748B"/>
                </a:solidFill>
                <a:latin typeface="Calibri" pitchFamily="34" charset="0"/>
                <a:ea typeface="Calibri" pitchFamily="34" charset="-122"/>
                <a:cs typeface="Calibri" pitchFamily="34" charset="-120"/>
              </a:rPr>
              <a:t>Ynov</a:t>
            </a:r>
            <a:r>
              <a:rPr lang="en-US" sz="1300" dirty="0">
                <a:solidFill>
                  <a:srgbClr val="64748B"/>
                </a:solidFill>
                <a:latin typeface="Calibri" pitchFamily="34" charset="0"/>
                <a:ea typeface="Calibri" pitchFamily="34" charset="-122"/>
                <a:cs typeface="Calibri" pitchFamily="34" charset="-120"/>
              </a:rPr>
              <a:t> Campus Strasbourg ·  Juin 2026</a:t>
            </a:r>
            <a:endParaRPr lang="en-US" sz="1300" dirty="0"/>
          </a:p>
        </p:txBody>
      </p:sp>
      <p:sp>
        <p:nvSpPr>
          <p:cNvPr id="6" name="Shape 4"/>
          <p:cNvSpPr/>
          <p:nvPr/>
        </p:nvSpPr>
        <p:spPr>
          <a:xfrm>
            <a:off x="5655458" y="1545336"/>
            <a:ext cx="2176272" cy="2176272"/>
          </a:xfrm>
          <a:prstGeom prst="rect">
            <a:avLst/>
          </a:prstGeom>
          <a:solidFill>
            <a:srgbClr val="334155"/>
          </a:solidFill>
          <a:ln/>
        </p:spPr>
        <p:txBody>
          <a:bodyPr/>
          <a:lstStyle/>
          <a:p>
            <a:endParaRPr lang="fr-FR"/>
          </a:p>
        </p:txBody>
      </p:sp>
      <p:sp>
        <p:nvSpPr>
          <p:cNvPr id="7" name="Shape 5"/>
          <p:cNvSpPr/>
          <p:nvPr/>
        </p:nvSpPr>
        <p:spPr>
          <a:xfrm>
            <a:off x="5710322" y="1600200"/>
            <a:ext cx="475488" cy="475488"/>
          </a:xfrm>
          <a:prstGeom prst="rect">
            <a:avLst/>
          </a:prstGeom>
          <a:solidFill>
            <a:srgbClr val="475569"/>
          </a:solidFill>
          <a:ln/>
        </p:spPr>
        <p:txBody>
          <a:bodyPr/>
          <a:lstStyle/>
          <a:p>
            <a:endParaRPr lang="fr-FR"/>
          </a:p>
        </p:txBody>
      </p:sp>
      <p:sp>
        <p:nvSpPr>
          <p:cNvPr id="8" name="Shape 6"/>
          <p:cNvSpPr/>
          <p:nvPr/>
        </p:nvSpPr>
        <p:spPr>
          <a:xfrm>
            <a:off x="6240674" y="1600200"/>
            <a:ext cx="475488" cy="475488"/>
          </a:xfrm>
          <a:prstGeom prst="rect">
            <a:avLst/>
          </a:prstGeom>
          <a:solidFill>
            <a:srgbClr val="475569"/>
          </a:solidFill>
          <a:ln/>
        </p:spPr>
        <p:txBody>
          <a:bodyPr/>
          <a:lstStyle/>
          <a:p>
            <a:endParaRPr lang="fr-FR"/>
          </a:p>
        </p:txBody>
      </p:sp>
      <p:sp>
        <p:nvSpPr>
          <p:cNvPr id="9" name="Shape 7"/>
          <p:cNvSpPr/>
          <p:nvPr/>
        </p:nvSpPr>
        <p:spPr>
          <a:xfrm>
            <a:off x="6771026" y="1600200"/>
            <a:ext cx="475488" cy="475488"/>
          </a:xfrm>
          <a:prstGeom prst="rect">
            <a:avLst/>
          </a:prstGeom>
          <a:solidFill>
            <a:srgbClr val="E2E8F0"/>
          </a:solidFill>
          <a:ln/>
        </p:spPr>
        <p:txBody>
          <a:bodyPr/>
          <a:lstStyle/>
          <a:p>
            <a:endParaRPr lang="fr-FR"/>
          </a:p>
        </p:txBody>
      </p:sp>
      <p:sp>
        <p:nvSpPr>
          <p:cNvPr id="10" name="Text 8"/>
          <p:cNvSpPr/>
          <p:nvPr/>
        </p:nvSpPr>
        <p:spPr>
          <a:xfrm>
            <a:off x="6771026" y="1600200"/>
            <a:ext cx="475488" cy="475488"/>
          </a:xfrm>
          <a:prstGeom prst="rect">
            <a:avLst/>
          </a:prstGeom>
          <a:noFill/>
          <a:ln/>
        </p:spPr>
        <p:txBody>
          <a:bodyPr wrap="square" lIns="0" tIns="0" rIns="0" bIns="0" rtlCol="0" anchor="ctr"/>
          <a:lstStyle/>
          <a:p>
            <a:pPr marL="0" indent="0" algn="ctr">
              <a:buNone/>
            </a:pPr>
            <a:r>
              <a:rPr lang="en-US" sz="1300" b="1" dirty="0">
                <a:solidFill>
                  <a:srgbClr val="475569"/>
                </a:solidFill>
              </a:rPr>
              <a:t>2</a:t>
            </a:r>
            <a:endParaRPr lang="en-US" sz="1300" dirty="0"/>
          </a:p>
        </p:txBody>
      </p:sp>
      <p:sp>
        <p:nvSpPr>
          <p:cNvPr id="11" name="Shape 9"/>
          <p:cNvSpPr/>
          <p:nvPr/>
        </p:nvSpPr>
        <p:spPr>
          <a:xfrm>
            <a:off x="7301378" y="1600200"/>
            <a:ext cx="475488" cy="475488"/>
          </a:xfrm>
          <a:prstGeom prst="rect">
            <a:avLst/>
          </a:prstGeom>
          <a:solidFill>
            <a:srgbClr val="FEF08A"/>
          </a:solidFill>
          <a:ln/>
        </p:spPr>
        <p:txBody>
          <a:bodyPr/>
          <a:lstStyle/>
          <a:p>
            <a:endParaRPr lang="fr-FR"/>
          </a:p>
        </p:txBody>
      </p:sp>
      <p:sp>
        <p:nvSpPr>
          <p:cNvPr id="12" name="Text 10"/>
          <p:cNvSpPr/>
          <p:nvPr/>
        </p:nvSpPr>
        <p:spPr>
          <a:xfrm>
            <a:off x="7301378" y="1600200"/>
            <a:ext cx="475488" cy="475488"/>
          </a:xfrm>
          <a:prstGeom prst="rect">
            <a:avLst/>
          </a:prstGeom>
          <a:noFill/>
          <a:ln/>
        </p:spPr>
        <p:txBody>
          <a:bodyPr wrap="square" lIns="0" tIns="0" rIns="0" bIns="0" rtlCol="0" anchor="ctr"/>
          <a:lstStyle/>
          <a:p>
            <a:pPr marL="0" indent="0" algn="ctr">
              <a:buNone/>
            </a:pPr>
            <a:r>
              <a:rPr lang="en-US" sz="1300" b="1" dirty="0">
                <a:solidFill>
                  <a:srgbClr val="475569"/>
                </a:solidFill>
              </a:rPr>
              <a:t>4</a:t>
            </a:r>
            <a:endParaRPr lang="en-US" sz="1300" dirty="0"/>
          </a:p>
        </p:txBody>
      </p:sp>
      <p:sp>
        <p:nvSpPr>
          <p:cNvPr id="13" name="Shape 11"/>
          <p:cNvSpPr/>
          <p:nvPr/>
        </p:nvSpPr>
        <p:spPr>
          <a:xfrm>
            <a:off x="5710322" y="2130552"/>
            <a:ext cx="475488" cy="475488"/>
          </a:xfrm>
          <a:prstGeom prst="rect">
            <a:avLst/>
          </a:prstGeom>
          <a:solidFill>
            <a:srgbClr val="475569"/>
          </a:solidFill>
          <a:ln/>
        </p:spPr>
        <p:txBody>
          <a:bodyPr/>
          <a:lstStyle/>
          <a:p>
            <a:endParaRPr lang="fr-FR"/>
          </a:p>
        </p:txBody>
      </p:sp>
      <p:sp>
        <p:nvSpPr>
          <p:cNvPr id="14" name="Shape 12"/>
          <p:cNvSpPr/>
          <p:nvPr/>
        </p:nvSpPr>
        <p:spPr>
          <a:xfrm>
            <a:off x="6240674" y="2130552"/>
            <a:ext cx="475488" cy="475488"/>
          </a:xfrm>
          <a:prstGeom prst="rect">
            <a:avLst/>
          </a:prstGeom>
          <a:solidFill>
            <a:srgbClr val="FEF08A"/>
          </a:solidFill>
          <a:ln/>
        </p:spPr>
        <p:txBody>
          <a:bodyPr/>
          <a:lstStyle/>
          <a:p>
            <a:endParaRPr lang="fr-FR"/>
          </a:p>
        </p:txBody>
      </p:sp>
      <p:sp>
        <p:nvSpPr>
          <p:cNvPr id="15" name="Text 13"/>
          <p:cNvSpPr/>
          <p:nvPr/>
        </p:nvSpPr>
        <p:spPr>
          <a:xfrm>
            <a:off x="6240674" y="2130552"/>
            <a:ext cx="475488" cy="475488"/>
          </a:xfrm>
          <a:prstGeom prst="rect">
            <a:avLst/>
          </a:prstGeom>
          <a:noFill/>
          <a:ln/>
        </p:spPr>
        <p:txBody>
          <a:bodyPr wrap="square" lIns="0" tIns="0" rIns="0" bIns="0" rtlCol="0" anchor="ctr"/>
          <a:lstStyle/>
          <a:p>
            <a:pPr marL="0" indent="0" algn="ctr">
              <a:buNone/>
            </a:pPr>
            <a:r>
              <a:rPr lang="en-US" sz="1300" b="1" dirty="0">
                <a:solidFill>
                  <a:srgbClr val="475569"/>
                </a:solidFill>
              </a:rPr>
              <a:t>4</a:t>
            </a:r>
            <a:endParaRPr lang="en-US" sz="1300" dirty="0"/>
          </a:p>
        </p:txBody>
      </p:sp>
      <p:sp>
        <p:nvSpPr>
          <p:cNvPr id="16" name="Shape 14"/>
          <p:cNvSpPr/>
          <p:nvPr/>
        </p:nvSpPr>
        <p:spPr>
          <a:xfrm>
            <a:off x="6771026" y="2130552"/>
            <a:ext cx="475488" cy="475488"/>
          </a:xfrm>
          <a:prstGeom prst="rect">
            <a:avLst/>
          </a:prstGeom>
          <a:solidFill>
            <a:srgbClr val="FED7AA"/>
          </a:solidFill>
          <a:ln/>
        </p:spPr>
        <p:txBody>
          <a:bodyPr/>
          <a:lstStyle/>
          <a:p>
            <a:endParaRPr lang="fr-FR"/>
          </a:p>
        </p:txBody>
      </p:sp>
      <p:sp>
        <p:nvSpPr>
          <p:cNvPr id="17" name="Text 15"/>
          <p:cNvSpPr/>
          <p:nvPr/>
        </p:nvSpPr>
        <p:spPr>
          <a:xfrm>
            <a:off x="6771026" y="2130552"/>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rPr>
              <a:t>8</a:t>
            </a:r>
            <a:endParaRPr lang="en-US" sz="1300" dirty="0"/>
          </a:p>
        </p:txBody>
      </p:sp>
      <p:sp>
        <p:nvSpPr>
          <p:cNvPr id="18" name="Shape 16"/>
          <p:cNvSpPr/>
          <p:nvPr/>
        </p:nvSpPr>
        <p:spPr>
          <a:xfrm>
            <a:off x="7301378" y="2130552"/>
            <a:ext cx="475488" cy="475488"/>
          </a:xfrm>
          <a:prstGeom prst="rect">
            <a:avLst/>
          </a:prstGeom>
          <a:solidFill>
            <a:srgbClr val="FED7AA"/>
          </a:solidFill>
          <a:ln/>
        </p:spPr>
        <p:txBody>
          <a:bodyPr/>
          <a:lstStyle/>
          <a:p>
            <a:endParaRPr lang="fr-FR"/>
          </a:p>
        </p:txBody>
      </p:sp>
      <p:sp>
        <p:nvSpPr>
          <p:cNvPr id="19" name="Text 17"/>
          <p:cNvSpPr/>
          <p:nvPr/>
        </p:nvSpPr>
        <p:spPr>
          <a:xfrm>
            <a:off x="7301378" y="2130552"/>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rPr>
              <a:t>8</a:t>
            </a:r>
            <a:endParaRPr lang="en-US" sz="1300" dirty="0"/>
          </a:p>
        </p:txBody>
      </p:sp>
      <p:sp>
        <p:nvSpPr>
          <p:cNvPr id="20" name="Shape 18"/>
          <p:cNvSpPr/>
          <p:nvPr/>
        </p:nvSpPr>
        <p:spPr>
          <a:xfrm>
            <a:off x="5710322" y="2660904"/>
            <a:ext cx="475488" cy="475488"/>
          </a:xfrm>
          <a:prstGeom prst="rect">
            <a:avLst/>
          </a:prstGeom>
          <a:solidFill>
            <a:srgbClr val="E2E8F0"/>
          </a:solidFill>
          <a:ln/>
        </p:spPr>
        <p:txBody>
          <a:bodyPr/>
          <a:lstStyle/>
          <a:p>
            <a:endParaRPr lang="fr-FR"/>
          </a:p>
        </p:txBody>
      </p:sp>
      <p:sp>
        <p:nvSpPr>
          <p:cNvPr id="21" name="Text 19"/>
          <p:cNvSpPr/>
          <p:nvPr/>
        </p:nvSpPr>
        <p:spPr>
          <a:xfrm>
            <a:off x="5710322" y="2660904"/>
            <a:ext cx="475488" cy="475488"/>
          </a:xfrm>
          <a:prstGeom prst="rect">
            <a:avLst/>
          </a:prstGeom>
          <a:noFill/>
          <a:ln/>
        </p:spPr>
        <p:txBody>
          <a:bodyPr wrap="square" lIns="0" tIns="0" rIns="0" bIns="0" rtlCol="0" anchor="ctr"/>
          <a:lstStyle/>
          <a:p>
            <a:pPr marL="0" indent="0" algn="ctr">
              <a:buNone/>
            </a:pPr>
            <a:r>
              <a:rPr lang="en-US" sz="1300" b="1" dirty="0">
                <a:solidFill>
                  <a:srgbClr val="475569"/>
                </a:solidFill>
              </a:rPr>
              <a:t>2</a:t>
            </a:r>
            <a:endParaRPr lang="en-US" sz="1300" dirty="0"/>
          </a:p>
        </p:txBody>
      </p:sp>
      <p:sp>
        <p:nvSpPr>
          <p:cNvPr id="22" name="Shape 20"/>
          <p:cNvSpPr/>
          <p:nvPr/>
        </p:nvSpPr>
        <p:spPr>
          <a:xfrm>
            <a:off x="6240674" y="2660904"/>
            <a:ext cx="475488" cy="475488"/>
          </a:xfrm>
          <a:prstGeom prst="rect">
            <a:avLst/>
          </a:prstGeom>
          <a:solidFill>
            <a:srgbClr val="FCA5A5"/>
          </a:solidFill>
          <a:ln/>
        </p:spPr>
        <p:txBody>
          <a:bodyPr/>
          <a:lstStyle/>
          <a:p>
            <a:endParaRPr lang="fr-FR"/>
          </a:p>
        </p:txBody>
      </p:sp>
      <p:sp>
        <p:nvSpPr>
          <p:cNvPr id="23" name="Text 21"/>
          <p:cNvSpPr/>
          <p:nvPr/>
        </p:nvSpPr>
        <p:spPr>
          <a:xfrm>
            <a:off x="6240674" y="2660904"/>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rPr>
              <a:t>16</a:t>
            </a:r>
            <a:endParaRPr lang="en-US" sz="1300" dirty="0"/>
          </a:p>
        </p:txBody>
      </p:sp>
      <p:sp>
        <p:nvSpPr>
          <p:cNvPr id="24" name="Shape 22"/>
          <p:cNvSpPr/>
          <p:nvPr/>
        </p:nvSpPr>
        <p:spPr>
          <a:xfrm>
            <a:off x="6771026" y="2660904"/>
            <a:ext cx="475488" cy="475488"/>
          </a:xfrm>
          <a:prstGeom prst="rect">
            <a:avLst/>
          </a:prstGeom>
          <a:solidFill>
            <a:srgbClr val="86EFAC"/>
          </a:solidFill>
          <a:ln/>
        </p:spPr>
        <p:txBody>
          <a:bodyPr/>
          <a:lstStyle/>
          <a:p>
            <a:endParaRPr lang="fr-FR"/>
          </a:p>
        </p:txBody>
      </p:sp>
      <p:sp>
        <p:nvSpPr>
          <p:cNvPr id="25" name="Text 23"/>
          <p:cNvSpPr/>
          <p:nvPr/>
        </p:nvSpPr>
        <p:spPr>
          <a:xfrm>
            <a:off x="6771026" y="2660904"/>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rPr>
              <a:t>32</a:t>
            </a:r>
            <a:endParaRPr lang="en-US" sz="1300" dirty="0"/>
          </a:p>
        </p:txBody>
      </p:sp>
      <p:sp>
        <p:nvSpPr>
          <p:cNvPr id="26" name="Shape 24"/>
          <p:cNvSpPr/>
          <p:nvPr/>
        </p:nvSpPr>
        <p:spPr>
          <a:xfrm>
            <a:off x="7301378" y="2660904"/>
            <a:ext cx="475488" cy="475488"/>
          </a:xfrm>
          <a:prstGeom prst="rect">
            <a:avLst/>
          </a:prstGeom>
          <a:solidFill>
            <a:srgbClr val="475569"/>
          </a:solidFill>
          <a:ln/>
        </p:spPr>
        <p:txBody>
          <a:bodyPr/>
          <a:lstStyle/>
          <a:p>
            <a:endParaRPr lang="fr-FR"/>
          </a:p>
        </p:txBody>
      </p:sp>
      <p:sp>
        <p:nvSpPr>
          <p:cNvPr id="27" name="Shape 25"/>
          <p:cNvSpPr/>
          <p:nvPr/>
        </p:nvSpPr>
        <p:spPr>
          <a:xfrm>
            <a:off x="5710322" y="3191256"/>
            <a:ext cx="475488" cy="475488"/>
          </a:xfrm>
          <a:prstGeom prst="rect">
            <a:avLst/>
          </a:prstGeom>
          <a:solidFill>
            <a:srgbClr val="475569"/>
          </a:solidFill>
          <a:ln/>
        </p:spPr>
        <p:txBody>
          <a:bodyPr/>
          <a:lstStyle/>
          <a:p>
            <a:endParaRPr lang="fr-FR"/>
          </a:p>
        </p:txBody>
      </p:sp>
      <p:sp>
        <p:nvSpPr>
          <p:cNvPr id="28" name="Shape 26"/>
          <p:cNvSpPr/>
          <p:nvPr/>
        </p:nvSpPr>
        <p:spPr>
          <a:xfrm>
            <a:off x="6240674" y="3191256"/>
            <a:ext cx="475488" cy="475488"/>
          </a:xfrm>
          <a:prstGeom prst="rect">
            <a:avLst/>
          </a:prstGeom>
          <a:solidFill>
            <a:srgbClr val="E2E8F0"/>
          </a:solidFill>
          <a:ln/>
        </p:spPr>
        <p:txBody>
          <a:bodyPr/>
          <a:lstStyle/>
          <a:p>
            <a:endParaRPr lang="fr-FR"/>
          </a:p>
        </p:txBody>
      </p:sp>
      <p:sp>
        <p:nvSpPr>
          <p:cNvPr id="29" name="Text 27"/>
          <p:cNvSpPr/>
          <p:nvPr/>
        </p:nvSpPr>
        <p:spPr>
          <a:xfrm>
            <a:off x="6240674" y="3191256"/>
            <a:ext cx="475488" cy="475488"/>
          </a:xfrm>
          <a:prstGeom prst="rect">
            <a:avLst/>
          </a:prstGeom>
          <a:noFill/>
          <a:ln/>
        </p:spPr>
        <p:txBody>
          <a:bodyPr wrap="square" lIns="0" tIns="0" rIns="0" bIns="0" rtlCol="0" anchor="ctr"/>
          <a:lstStyle/>
          <a:p>
            <a:pPr marL="0" indent="0" algn="ctr">
              <a:buNone/>
            </a:pPr>
            <a:r>
              <a:rPr lang="en-US" sz="1300" b="1" dirty="0">
                <a:solidFill>
                  <a:srgbClr val="475569"/>
                </a:solidFill>
              </a:rPr>
              <a:t>2</a:t>
            </a:r>
            <a:endParaRPr lang="en-US" sz="1300" dirty="0"/>
          </a:p>
        </p:txBody>
      </p:sp>
      <p:sp>
        <p:nvSpPr>
          <p:cNvPr id="30" name="Shape 28"/>
          <p:cNvSpPr/>
          <p:nvPr/>
        </p:nvSpPr>
        <p:spPr>
          <a:xfrm>
            <a:off x="6771026" y="3191256"/>
            <a:ext cx="475488" cy="475488"/>
          </a:xfrm>
          <a:prstGeom prst="rect">
            <a:avLst/>
          </a:prstGeom>
          <a:solidFill>
            <a:srgbClr val="E2E8F0"/>
          </a:solidFill>
          <a:ln/>
        </p:spPr>
        <p:txBody>
          <a:bodyPr/>
          <a:lstStyle/>
          <a:p>
            <a:endParaRPr lang="fr-FR"/>
          </a:p>
        </p:txBody>
      </p:sp>
      <p:sp>
        <p:nvSpPr>
          <p:cNvPr id="31" name="Text 29"/>
          <p:cNvSpPr/>
          <p:nvPr/>
        </p:nvSpPr>
        <p:spPr>
          <a:xfrm>
            <a:off x="6771026" y="3191256"/>
            <a:ext cx="475488" cy="475488"/>
          </a:xfrm>
          <a:prstGeom prst="rect">
            <a:avLst/>
          </a:prstGeom>
          <a:noFill/>
          <a:ln/>
        </p:spPr>
        <p:txBody>
          <a:bodyPr wrap="square" lIns="0" tIns="0" rIns="0" bIns="0" rtlCol="0" anchor="ctr"/>
          <a:lstStyle/>
          <a:p>
            <a:pPr marL="0" indent="0" algn="ctr">
              <a:buNone/>
            </a:pPr>
            <a:r>
              <a:rPr lang="en-US" sz="1300" b="1" dirty="0">
                <a:solidFill>
                  <a:srgbClr val="475569"/>
                </a:solidFill>
              </a:rPr>
              <a:t>2</a:t>
            </a:r>
            <a:endParaRPr lang="en-US" sz="1300" dirty="0"/>
          </a:p>
        </p:txBody>
      </p:sp>
      <p:sp>
        <p:nvSpPr>
          <p:cNvPr id="32" name="Shape 30"/>
          <p:cNvSpPr/>
          <p:nvPr/>
        </p:nvSpPr>
        <p:spPr>
          <a:xfrm>
            <a:off x="7301378" y="3191256"/>
            <a:ext cx="475488" cy="475488"/>
          </a:xfrm>
          <a:prstGeom prst="rect">
            <a:avLst/>
          </a:prstGeom>
          <a:solidFill>
            <a:srgbClr val="FCA5A5"/>
          </a:solidFill>
          <a:ln/>
        </p:spPr>
        <p:txBody>
          <a:bodyPr/>
          <a:lstStyle/>
          <a:p>
            <a:endParaRPr lang="fr-FR"/>
          </a:p>
        </p:txBody>
      </p:sp>
      <p:sp>
        <p:nvSpPr>
          <p:cNvPr id="33" name="Text 31"/>
          <p:cNvSpPr/>
          <p:nvPr/>
        </p:nvSpPr>
        <p:spPr>
          <a:xfrm>
            <a:off x="7301378" y="3191256"/>
            <a:ext cx="475488" cy="475488"/>
          </a:xfrm>
          <a:prstGeom prst="rect">
            <a:avLst/>
          </a:prstGeom>
          <a:noFill/>
          <a:ln/>
        </p:spPr>
        <p:txBody>
          <a:bodyPr wrap="square" lIns="0" tIns="0" rIns="0" bIns="0" rtlCol="0" anchor="ctr"/>
          <a:lstStyle/>
          <a:p>
            <a:pPr marL="0" indent="0" algn="ctr">
              <a:buNone/>
            </a:pPr>
            <a:r>
              <a:rPr lang="en-US" sz="1300" b="1" dirty="0">
                <a:solidFill>
                  <a:srgbClr val="FFFFFF"/>
                </a:solidFill>
              </a:rPr>
              <a:t>16</a:t>
            </a:r>
            <a:endParaRPr lang="en-US" sz="1300" dirty="0"/>
          </a:p>
        </p:txBody>
      </p:sp>
      <p:sp>
        <p:nvSpPr>
          <p:cNvPr id="34" name="Text 32"/>
          <p:cNvSpPr/>
          <p:nvPr/>
        </p:nvSpPr>
        <p:spPr>
          <a:xfrm>
            <a:off x="0" y="4663440"/>
            <a:ext cx="9144000" cy="320040"/>
          </a:xfrm>
          <a:prstGeom prst="rect">
            <a:avLst/>
          </a:prstGeom>
          <a:noFill/>
          <a:ln/>
        </p:spPr>
        <p:txBody>
          <a:bodyPr wrap="square" rtlCol="0" anchor="ctr"/>
          <a:lstStyle/>
          <a:p>
            <a:pPr marL="0" indent="0" algn="ctr">
              <a:buNone/>
            </a:pP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rtlCol="0" anchor="ctr"/>
          <a:lstStyle/>
          <a:p>
            <a:pPr marL="0" indent="0" algn="ctr">
              <a:buNone/>
            </a:pPr>
            <a:r>
              <a:rPr lang="en-US" sz="2800" b="1" dirty="0">
                <a:solidFill>
                  <a:schemeClr val="bg1"/>
                </a:solidFill>
                <a:latin typeface="Cambria" pitchFamily="34" charset="0"/>
                <a:ea typeface="Cambria" pitchFamily="34" charset="-122"/>
                <a:cs typeface="Cambria" pitchFamily="34" charset="-120"/>
              </a:rPr>
              <a:t>Objectifs du projet</a:t>
            </a:r>
            <a:endParaRPr lang="en-US" sz="2800" dirty="0">
              <a:solidFill>
                <a:schemeClr val="bg1"/>
              </a:solidFill>
            </a:endParaRPr>
          </a:p>
        </p:txBody>
      </p:sp>
      <p:sp>
        <p:nvSpPr>
          <p:cNvPr id="3" name="Shape 1"/>
          <p:cNvSpPr/>
          <p:nvPr/>
        </p:nvSpPr>
        <p:spPr>
          <a:xfrm>
            <a:off x="365760" y="1051560"/>
            <a:ext cx="1965960" cy="3200400"/>
          </a:xfrm>
          <a:prstGeom prst="rect">
            <a:avLst/>
          </a:prstGeom>
          <a:solidFill>
            <a:srgbClr val="A7C7FB"/>
          </a:solidFill>
          <a:ln/>
          <a:effectLst>
            <a:outerShdw blurRad="101600" dist="38100" dir="2700000" algn="bl" rotWithShape="0">
              <a:srgbClr val="000000">
                <a:alpha val="10000"/>
              </a:srgbClr>
            </a:outerShdw>
          </a:effectLst>
        </p:spPr>
        <p:txBody>
          <a:bodyPr/>
          <a:lstStyle/>
          <a:p>
            <a:endParaRPr lang="fr-FR"/>
          </a:p>
        </p:txBody>
      </p:sp>
      <p:pic>
        <p:nvPicPr>
          <p:cNvPr id="4" name="Image 0" descr="preencoded.png"/>
          <p:cNvPicPr>
            <a:picLocks noChangeAspect="1"/>
          </p:cNvPicPr>
          <p:nvPr/>
        </p:nvPicPr>
        <p:blipFill>
          <a:blip r:embed="rId3"/>
          <a:stretch>
            <a:fillRect/>
          </a:stretch>
        </p:blipFill>
        <p:spPr>
          <a:xfrm>
            <a:off x="1005840" y="1325880"/>
            <a:ext cx="502920" cy="502920"/>
          </a:xfrm>
          <a:prstGeom prst="rect">
            <a:avLst/>
          </a:prstGeom>
        </p:spPr>
      </p:pic>
      <p:sp>
        <p:nvSpPr>
          <p:cNvPr id="5" name="Text 2"/>
          <p:cNvSpPr/>
          <p:nvPr/>
        </p:nvSpPr>
        <p:spPr>
          <a:xfrm>
            <a:off x="502920" y="1965960"/>
            <a:ext cx="1691640" cy="457200"/>
          </a:xfrm>
          <a:prstGeom prst="rect">
            <a:avLst/>
          </a:prstGeom>
          <a:noFill/>
          <a:ln/>
        </p:spPr>
        <p:txBody>
          <a:bodyPr wrap="square" rtlCol="0" anchor="ctr"/>
          <a:lstStyle/>
          <a:p>
            <a:pPr marL="0" indent="0" algn="ctr">
              <a:buNone/>
            </a:pPr>
            <a:r>
              <a:rPr lang="en-US" sz="1300" b="1" dirty="0">
                <a:solidFill>
                  <a:srgbClr val="1E293B"/>
                </a:solidFill>
                <a:latin typeface="Calibri" pitchFamily="34" charset="0"/>
                <a:ea typeface="Calibri" pitchFamily="34" charset="-122"/>
                <a:cs typeface="Calibri" pitchFamily="34" charset="-120"/>
              </a:rPr>
              <a:t>Gestion mémoire</a:t>
            </a:r>
            <a:endParaRPr lang="en-US" sz="1300" dirty="0"/>
          </a:p>
        </p:txBody>
      </p:sp>
      <p:sp>
        <p:nvSpPr>
          <p:cNvPr id="6" name="Text 3"/>
          <p:cNvSpPr/>
          <p:nvPr/>
        </p:nvSpPr>
        <p:spPr>
          <a:xfrm>
            <a:off x="475488" y="2468880"/>
            <a:ext cx="1746504" cy="1371600"/>
          </a:xfrm>
          <a:prstGeom prst="rect">
            <a:avLst/>
          </a:prstGeom>
          <a:noFill/>
          <a:ln/>
        </p:spPr>
        <p:txBody>
          <a:bodyPr wrap="square"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malloc · </a:t>
            </a:r>
            <a:r>
              <a:rPr lang="en-US" sz="1100" dirty="0" err="1">
                <a:solidFill>
                  <a:srgbClr val="475569"/>
                </a:solidFill>
                <a:latin typeface="Calibri" pitchFamily="34" charset="0"/>
                <a:ea typeface="Calibri" pitchFamily="34" charset="-122"/>
                <a:cs typeface="Calibri" pitchFamily="34" charset="-120"/>
              </a:rPr>
              <a:t>calloc</a:t>
            </a:r>
            <a:r>
              <a:rPr lang="en-US" sz="1100" dirty="0">
                <a:solidFill>
                  <a:srgbClr val="475569"/>
                </a:solidFill>
                <a:latin typeface="Calibri" pitchFamily="34" charset="0"/>
                <a:ea typeface="Calibri" pitchFamily="34" charset="-122"/>
                <a:cs typeface="Calibri" pitchFamily="34" charset="-120"/>
              </a:rPr>
              <a:t> · free</a:t>
            </a:r>
            <a:endParaRPr lang="en-US" sz="1100" dirty="0"/>
          </a:p>
        </p:txBody>
      </p:sp>
      <p:sp>
        <p:nvSpPr>
          <p:cNvPr id="7" name="Shape 4"/>
          <p:cNvSpPr/>
          <p:nvPr/>
        </p:nvSpPr>
        <p:spPr>
          <a:xfrm>
            <a:off x="2514600" y="1051560"/>
            <a:ext cx="1965960" cy="3200400"/>
          </a:xfrm>
          <a:prstGeom prst="rect">
            <a:avLst/>
          </a:prstGeom>
          <a:solidFill>
            <a:srgbClr val="A7C7FB"/>
          </a:solidFill>
          <a:ln/>
          <a:effectLst>
            <a:outerShdw blurRad="101600" dist="38100" dir="2700000" algn="bl" rotWithShape="0">
              <a:srgbClr val="000000">
                <a:alpha val="10000"/>
              </a:srgbClr>
            </a:outerShdw>
          </a:effectLst>
        </p:spPr>
        <p:txBody>
          <a:bodyPr/>
          <a:lstStyle/>
          <a:p>
            <a:endParaRPr lang="fr-FR"/>
          </a:p>
        </p:txBody>
      </p:sp>
      <p:pic>
        <p:nvPicPr>
          <p:cNvPr id="8" name="Image 1" descr="preencoded.png"/>
          <p:cNvPicPr>
            <a:picLocks noChangeAspect="1"/>
          </p:cNvPicPr>
          <p:nvPr/>
        </p:nvPicPr>
        <p:blipFill>
          <a:blip r:embed="rId4"/>
          <a:stretch>
            <a:fillRect/>
          </a:stretch>
        </p:blipFill>
        <p:spPr>
          <a:xfrm>
            <a:off x="3154680" y="1325880"/>
            <a:ext cx="502920" cy="502920"/>
          </a:xfrm>
          <a:prstGeom prst="rect">
            <a:avLst/>
          </a:prstGeom>
        </p:spPr>
      </p:pic>
      <p:sp>
        <p:nvSpPr>
          <p:cNvPr id="9" name="Text 5"/>
          <p:cNvSpPr/>
          <p:nvPr/>
        </p:nvSpPr>
        <p:spPr>
          <a:xfrm>
            <a:off x="2651760" y="1965960"/>
            <a:ext cx="1691640" cy="457200"/>
          </a:xfrm>
          <a:prstGeom prst="rect">
            <a:avLst/>
          </a:prstGeom>
          <a:noFill/>
          <a:ln/>
        </p:spPr>
        <p:txBody>
          <a:bodyPr wrap="square" rtlCol="0" anchor="ctr"/>
          <a:lstStyle/>
          <a:p>
            <a:pPr marL="0" indent="0" algn="ctr">
              <a:buNone/>
            </a:pPr>
            <a:r>
              <a:rPr lang="en-US" sz="1300" b="1" dirty="0">
                <a:solidFill>
                  <a:srgbClr val="1E293B"/>
                </a:solidFill>
                <a:latin typeface="Calibri" pitchFamily="34" charset="0"/>
                <a:ea typeface="Calibri" pitchFamily="34" charset="-122"/>
                <a:cs typeface="Calibri" pitchFamily="34" charset="-120"/>
              </a:rPr>
              <a:t>Programmation en C</a:t>
            </a:r>
            <a:endParaRPr lang="en-US" sz="1300" dirty="0"/>
          </a:p>
        </p:txBody>
      </p:sp>
      <p:sp>
        <p:nvSpPr>
          <p:cNvPr id="10" name="Text 6"/>
          <p:cNvSpPr/>
          <p:nvPr/>
        </p:nvSpPr>
        <p:spPr>
          <a:xfrm>
            <a:off x="2624328" y="2468880"/>
            <a:ext cx="1746504" cy="1371600"/>
          </a:xfrm>
          <a:prstGeom prst="rect">
            <a:avLst/>
          </a:prstGeom>
          <a:noFill/>
          <a:ln/>
        </p:spPr>
        <p:txBody>
          <a:bodyPr wrap="square"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Structures, pointeurs, fichiers multiples</a:t>
            </a:r>
            <a:endParaRPr lang="en-US" sz="1100" dirty="0"/>
          </a:p>
        </p:txBody>
      </p:sp>
      <p:sp>
        <p:nvSpPr>
          <p:cNvPr id="11" name="Shape 7"/>
          <p:cNvSpPr/>
          <p:nvPr/>
        </p:nvSpPr>
        <p:spPr>
          <a:xfrm>
            <a:off x="4663440" y="1051560"/>
            <a:ext cx="1965960" cy="3200400"/>
          </a:xfrm>
          <a:prstGeom prst="rect">
            <a:avLst/>
          </a:prstGeom>
          <a:solidFill>
            <a:srgbClr val="A7C7FB"/>
          </a:solidFill>
          <a:ln/>
          <a:effectLst>
            <a:outerShdw blurRad="101600" dist="38100" dir="2700000" algn="bl" rotWithShape="0">
              <a:srgbClr val="000000">
                <a:alpha val="10000"/>
              </a:srgbClr>
            </a:outerShdw>
          </a:effectLst>
        </p:spPr>
        <p:txBody>
          <a:bodyPr/>
          <a:lstStyle/>
          <a:p>
            <a:endParaRPr lang="fr-FR"/>
          </a:p>
        </p:txBody>
      </p:sp>
      <p:pic>
        <p:nvPicPr>
          <p:cNvPr id="12" name="Image 2" descr="preencoded.png"/>
          <p:cNvPicPr>
            <a:picLocks noChangeAspect="1"/>
          </p:cNvPicPr>
          <p:nvPr/>
        </p:nvPicPr>
        <p:blipFill>
          <a:blip r:embed="rId5"/>
          <a:stretch>
            <a:fillRect/>
          </a:stretch>
        </p:blipFill>
        <p:spPr>
          <a:xfrm>
            <a:off x="5303520" y="1325880"/>
            <a:ext cx="502920" cy="502920"/>
          </a:xfrm>
          <a:prstGeom prst="rect">
            <a:avLst/>
          </a:prstGeom>
        </p:spPr>
      </p:pic>
      <p:sp>
        <p:nvSpPr>
          <p:cNvPr id="13" name="Text 8"/>
          <p:cNvSpPr/>
          <p:nvPr/>
        </p:nvSpPr>
        <p:spPr>
          <a:xfrm>
            <a:off x="4800600" y="1965960"/>
            <a:ext cx="1691640" cy="457200"/>
          </a:xfrm>
          <a:prstGeom prst="rect">
            <a:avLst/>
          </a:prstGeom>
          <a:noFill/>
          <a:ln/>
        </p:spPr>
        <p:txBody>
          <a:bodyPr wrap="square" rtlCol="0" anchor="ctr"/>
          <a:lstStyle/>
          <a:p>
            <a:pPr marL="0" indent="0" algn="ctr">
              <a:buNone/>
            </a:pPr>
            <a:r>
              <a:rPr lang="en-US" sz="1300" b="1" dirty="0">
                <a:solidFill>
                  <a:srgbClr val="1E293B"/>
                </a:solidFill>
                <a:latin typeface="Calibri" pitchFamily="34" charset="0"/>
                <a:ea typeface="Calibri" pitchFamily="34" charset="-122"/>
                <a:cs typeface="Calibri" pitchFamily="34" charset="-120"/>
              </a:rPr>
              <a:t>Implémenter le 2048</a:t>
            </a:r>
            <a:endParaRPr lang="en-US" sz="1300" dirty="0"/>
          </a:p>
        </p:txBody>
      </p:sp>
      <p:sp>
        <p:nvSpPr>
          <p:cNvPr id="14" name="Text 9"/>
          <p:cNvSpPr/>
          <p:nvPr/>
        </p:nvSpPr>
        <p:spPr>
          <a:xfrm>
            <a:off x="4773168" y="2468880"/>
            <a:ext cx="1746504" cy="1371600"/>
          </a:xfrm>
          <a:prstGeom prst="rect">
            <a:avLst/>
          </a:prstGeom>
          <a:noFill/>
          <a:ln/>
        </p:spPr>
        <p:txBody>
          <a:bodyPr wrap="square"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Logique complète : fusions, victoire, </a:t>
            </a:r>
            <a:r>
              <a:rPr lang="en-US" sz="1100" dirty="0" err="1">
                <a:solidFill>
                  <a:srgbClr val="475569"/>
                </a:solidFill>
                <a:latin typeface="Calibri" pitchFamily="34" charset="0"/>
                <a:ea typeface="Calibri" pitchFamily="34" charset="-122"/>
                <a:cs typeface="Calibri" pitchFamily="34" charset="-120"/>
              </a:rPr>
              <a:t>défaite</a:t>
            </a:r>
            <a:r>
              <a:rPr lang="en-US" sz="1100" dirty="0">
                <a:solidFill>
                  <a:srgbClr val="475569"/>
                </a:solidFill>
                <a:latin typeface="Calibri" pitchFamily="34" charset="0"/>
                <a:ea typeface="Calibri" pitchFamily="34" charset="-122"/>
                <a:cs typeface="Calibri" pitchFamily="34" charset="-120"/>
              </a:rPr>
              <a:t>, score</a:t>
            </a:r>
            <a:endParaRPr lang="en-US" sz="1100" dirty="0"/>
          </a:p>
        </p:txBody>
      </p:sp>
      <p:sp>
        <p:nvSpPr>
          <p:cNvPr id="15" name="Shape 10"/>
          <p:cNvSpPr/>
          <p:nvPr/>
        </p:nvSpPr>
        <p:spPr>
          <a:xfrm>
            <a:off x="6812280" y="1051560"/>
            <a:ext cx="1965960" cy="3200400"/>
          </a:xfrm>
          <a:prstGeom prst="rect">
            <a:avLst/>
          </a:prstGeom>
          <a:solidFill>
            <a:srgbClr val="A7C7FB"/>
          </a:solidFill>
          <a:ln/>
          <a:effectLst>
            <a:outerShdw blurRad="101600" dist="38100" dir="2700000" algn="bl" rotWithShape="0">
              <a:srgbClr val="000000">
                <a:alpha val="10000"/>
              </a:srgbClr>
            </a:outerShdw>
          </a:effectLst>
        </p:spPr>
        <p:txBody>
          <a:bodyPr/>
          <a:lstStyle/>
          <a:p>
            <a:endParaRPr lang="fr-FR"/>
          </a:p>
        </p:txBody>
      </p:sp>
      <p:pic>
        <p:nvPicPr>
          <p:cNvPr id="16" name="Image 3" descr="preencoded.png"/>
          <p:cNvPicPr>
            <a:picLocks noChangeAspect="1"/>
          </p:cNvPicPr>
          <p:nvPr/>
        </p:nvPicPr>
        <p:blipFill>
          <a:blip r:embed="rId6"/>
          <a:stretch>
            <a:fillRect/>
          </a:stretch>
        </p:blipFill>
        <p:spPr>
          <a:xfrm>
            <a:off x="7452360" y="1325880"/>
            <a:ext cx="502920" cy="502920"/>
          </a:xfrm>
          <a:prstGeom prst="rect">
            <a:avLst/>
          </a:prstGeom>
        </p:spPr>
      </p:pic>
      <p:sp>
        <p:nvSpPr>
          <p:cNvPr id="17" name="Text 11"/>
          <p:cNvSpPr/>
          <p:nvPr/>
        </p:nvSpPr>
        <p:spPr>
          <a:xfrm>
            <a:off x="6949440" y="1965960"/>
            <a:ext cx="1691640" cy="457200"/>
          </a:xfrm>
          <a:prstGeom prst="rect">
            <a:avLst/>
          </a:prstGeom>
          <a:noFill/>
          <a:ln/>
        </p:spPr>
        <p:txBody>
          <a:bodyPr wrap="square" rtlCol="0" anchor="ctr"/>
          <a:lstStyle/>
          <a:p>
            <a:pPr marL="0" indent="0" algn="ctr">
              <a:buNone/>
            </a:pPr>
            <a:r>
              <a:rPr lang="en-US" sz="1300" b="1" dirty="0">
                <a:solidFill>
                  <a:srgbClr val="1E293B"/>
                </a:solidFill>
                <a:latin typeface="Calibri" pitchFamily="34" charset="0"/>
                <a:ea typeface="Calibri" pitchFamily="34" charset="-122"/>
                <a:cs typeface="Calibri" pitchFamily="34" charset="-120"/>
              </a:rPr>
              <a:t>Robustesse &amp; gestion d'erreurs</a:t>
            </a:r>
            <a:endParaRPr lang="en-US" sz="1300" dirty="0"/>
          </a:p>
        </p:txBody>
      </p:sp>
      <p:sp>
        <p:nvSpPr>
          <p:cNvPr id="18" name="Text 12"/>
          <p:cNvSpPr/>
          <p:nvPr/>
        </p:nvSpPr>
        <p:spPr>
          <a:xfrm>
            <a:off x="6922008" y="2468880"/>
            <a:ext cx="1746504" cy="1371600"/>
          </a:xfrm>
          <a:prstGeom prst="rect">
            <a:avLst/>
          </a:prstGeom>
          <a:noFill/>
          <a:ln/>
        </p:spPr>
        <p:txBody>
          <a:bodyPr wrap="square" rtlCol="0" anchor="ctr"/>
          <a:lstStyle/>
          <a:p>
            <a:pPr marL="0" indent="0" algn="ctr">
              <a:buNone/>
            </a:pPr>
            <a:r>
              <a:rPr lang="en-US" sz="1100" dirty="0">
                <a:solidFill>
                  <a:srgbClr val="475569"/>
                </a:solidFill>
                <a:latin typeface="Calibri" pitchFamily="34" charset="0"/>
                <a:ea typeface="Calibri" pitchFamily="34" charset="-122"/>
                <a:cs typeface="Calibri" pitchFamily="34" charset="-120"/>
              </a:rPr>
              <a:t>Vérification malloc, errno, EXIT_FAILURE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607056" cy="594360"/>
          </a:xfrm>
          <a:prstGeom prst="rect">
            <a:avLst/>
          </a:prstGeom>
          <a:noFill/>
          <a:ln/>
        </p:spPr>
        <p:txBody>
          <a:bodyPr wrap="square"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Fonctionnement du jeu</a:t>
            </a:r>
            <a:endParaRPr lang="en-US" sz="2800" dirty="0"/>
          </a:p>
        </p:txBody>
      </p:sp>
      <p:sp>
        <p:nvSpPr>
          <p:cNvPr id="3" name="Shape 1"/>
          <p:cNvSpPr/>
          <p:nvPr/>
        </p:nvSpPr>
        <p:spPr>
          <a:xfrm>
            <a:off x="365760" y="960120"/>
            <a:ext cx="5029200" cy="658368"/>
          </a:xfrm>
          <a:prstGeom prst="rect">
            <a:avLst/>
          </a:prstGeom>
          <a:solidFill>
            <a:srgbClr val="1E293B"/>
          </a:solidFill>
          <a:ln/>
        </p:spPr>
        <p:txBody>
          <a:bodyPr/>
          <a:lstStyle/>
          <a:p>
            <a:endParaRPr lang="fr-FR"/>
          </a:p>
        </p:txBody>
      </p:sp>
      <p:pic>
        <p:nvPicPr>
          <p:cNvPr id="4" name="Image 0" descr="preencoded.png"/>
          <p:cNvPicPr>
            <a:picLocks noChangeAspect="1"/>
          </p:cNvPicPr>
          <p:nvPr/>
        </p:nvPicPr>
        <p:blipFill>
          <a:blip r:embed="rId3"/>
          <a:stretch>
            <a:fillRect/>
          </a:stretch>
        </p:blipFill>
        <p:spPr>
          <a:xfrm>
            <a:off x="502920" y="1115568"/>
            <a:ext cx="329184" cy="329184"/>
          </a:xfrm>
          <a:prstGeom prst="rect">
            <a:avLst/>
          </a:prstGeom>
        </p:spPr>
      </p:pic>
      <p:sp>
        <p:nvSpPr>
          <p:cNvPr id="5" name="Text 2"/>
          <p:cNvSpPr/>
          <p:nvPr/>
        </p:nvSpPr>
        <p:spPr>
          <a:xfrm>
            <a:off x="1005840" y="1033272"/>
            <a:ext cx="1828800" cy="274320"/>
          </a:xfrm>
          <a:prstGeom prst="rect">
            <a:avLst/>
          </a:prstGeom>
          <a:noFill/>
          <a:ln/>
        </p:spPr>
        <p:txBody>
          <a:bodyPr wrap="square" rtlCol="0" anchor="ctr"/>
          <a:lstStyle/>
          <a:p>
            <a:pPr marL="0" indent="0">
              <a:buNone/>
            </a:pPr>
            <a:r>
              <a:rPr lang="en-US" sz="1200" b="1" dirty="0">
                <a:solidFill>
                  <a:srgbClr val="3B82F6"/>
                </a:solidFill>
                <a:latin typeface="Calibri" pitchFamily="34" charset="0"/>
                <a:ea typeface="Calibri" pitchFamily="34" charset="-122"/>
                <a:cs typeface="Calibri" pitchFamily="34" charset="-120"/>
              </a:rPr>
              <a:t>Déplacements</a:t>
            </a:r>
            <a:endParaRPr lang="en-US" sz="1200" dirty="0"/>
          </a:p>
        </p:txBody>
      </p:sp>
      <p:sp>
        <p:nvSpPr>
          <p:cNvPr id="6" name="Text 3"/>
          <p:cNvSpPr/>
          <p:nvPr/>
        </p:nvSpPr>
        <p:spPr>
          <a:xfrm>
            <a:off x="1005840" y="1307592"/>
            <a:ext cx="4251960" cy="246888"/>
          </a:xfrm>
          <a:prstGeom prst="rect">
            <a:avLst/>
          </a:prstGeom>
          <a:noFill/>
          <a:ln/>
        </p:spPr>
        <p:txBody>
          <a:bodyPr wrap="square" rtlCol="0" anchor="ctr"/>
          <a:lstStyle/>
          <a:p>
            <a:pPr marL="0" indent="0">
              <a:buNone/>
            </a:pPr>
            <a:r>
              <a:rPr lang="en-US" sz="1100" dirty="0">
                <a:solidFill>
                  <a:srgbClr val="94A3B8"/>
                </a:solidFill>
                <a:latin typeface="Calibri" pitchFamily="34" charset="0"/>
                <a:ea typeface="Calibri" pitchFamily="34" charset="-122"/>
                <a:cs typeface="Calibri" pitchFamily="34" charset="-120"/>
              </a:rPr>
              <a:t>Touches Z Q S D pour haut / gauche / bas / droite</a:t>
            </a:r>
            <a:endParaRPr lang="en-US" sz="1100" dirty="0"/>
          </a:p>
        </p:txBody>
      </p:sp>
      <p:sp>
        <p:nvSpPr>
          <p:cNvPr id="7" name="Shape 4"/>
          <p:cNvSpPr/>
          <p:nvPr/>
        </p:nvSpPr>
        <p:spPr>
          <a:xfrm>
            <a:off x="365760" y="1728216"/>
            <a:ext cx="5029200" cy="658368"/>
          </a:xfrm>
          <a:prstGeom prst="rect">
            <a:avLst/>
          </a:prstGeom>
          <a:solidFill>
            <a:srgbClr val="1E293B"/>
          </a:solidFill>
          <a:ln/>
        </p:spPr>
        <p:txBody>
          <a:bodyPr/>
          <a:lstStyle/>
          <a:p>
            <a:endParaRPr lang="fr-FR"/>
          </a:p>
        </p:txBody>
      </p:sp>
      <p:pic>
        <p:nvPicPr>
          <p:cNvPr id="8" name="Image 1" descr="preencoded.png"/>
          <p:cNvPicPr>
            <a:picLocks noChangeAspect="1"/>
          </p:cNvPicPr>
          <p:nvPr/>
        </p:nvPicPr>
        <p:blipFill>
          <a:blip r:embed="rId4"/>
          <a:stretch>
            <a:fillRect/>
          </a:stretch>
        </p:blipFill>
        <p:spPr>
          <a:xfrm>
            <a:off x="502920" y="1883664"/>
            <a:ext cx="329184" cy="329184"/>
          </a:xfrm>
          <a:prstGeom prst="rect">
            <a:avLst/>
          </a:prstGeom>
        </p:spPr>
      </p:pic>
      <p:sp>
        <p:nvSpPr>
          <p:cNvPr id="9" name="Text 5"/>
          <p:cNvSpPr/>
          <p:nvPr/>
        </p:nvSpPr>
        <p:spPr>
          <a:xfrm>
            <a:off x="1005840" y="1801368"/>
            <a:ext cx="1828800" cy="274320"/>
          </a:xfrm>
          <a:prstGeom prst="rect">
            <a:avLst/>
          </a:prstGeom>
          <a:noFill/>
          <a:ln/>
        </p:spPr>
        <p:txBody>
          <a:bodyPr wrap="square" rtlCol="0" anchor="ctr"/>
          <a:lstStyle/>
          <a:p>
            <a:pPr marL="0" indent="0">
              <a:buNone/>
            </a:pPr>
            <a:r>
              <a:rPr lang="en-US" sz="1200" b="1" dirty="0">
                <a:solidFill>
                  <a:srgbClr val="3B82F6"/>
                </a:solidFill>
                <a:latin typeface="Calibri" pitchFamily="34" charset="0"/>
                <a:ea typeface="Calibri" pitchFamily="34" charset="-122"/>
                <a:cs typeface="Calibri" pitchFamily="34" charset="-120"/>
              </a:rPr>
              <a:t>Fusion</a:t>
            </a:r>
            <a:endParaRPr lang="en-US" sz="1200" dirty="0"/>
          </a:p>
        </p:txBody>
      </p:sp>
      <p:sp>
        <p:nvSpPr>
          <p:cNvPr id="10" name="Text 6"/>
          <p:cNvSpPr/>
          <p:nvPr/>
        </p:nvSpPr>
        <p:spPr>
          <a:xfrm>
            <a:off x="1005840" y="2075688"/>
            <a:ext cx="4251960" cy="246888"/>
          </a:xfrm>
          <a:prstGeom prst="rect">
            <a:avLst/>
          </a:prstGeom>
          <a:noFill/>
          <a:ln/>
        </p:spPr>
        <p:txBody>
          <a:bodyPr wrap="square" rtlCol="0" anchor="ctr"/>
          <a:lstStyle/>
          <a:p>
            <a:pPr marL="0" indent="0">
              <a:buNone/>
            </a:pPr>
            <a:r>
              <a:rPr lang="en-US" sz="1100" dirty="0">
                <a:solidFill>
                  <a:srgbClr val="94A3B8"/>
                </a:solidFill>
                <a:latin typeface="Calibri" pitchFamily="34" charset="0"/>
                <a:ea typeface="Calibri" pitchFamily="34" charset="-122"/>
                <a:cs typeface="Calibri" pitchFamily="34" charset="-120"/>
              </a:rPr>
              <a:t>Deux tuiles identiques → leur double (ex. 2+2=4)</a:t>
            </a:r>
            <a:endParaRPr lang="en-US" sz="1100" dirty="0"/>
          </a:p>
        </p:txBody>
      </p:sp>
      <p:sp>
        <p:nvSpPr>
          <p:cNvPr id="11" name="Shape 7"/>
          <p:cNvSpPr/>
          <p:nvPr/>
        </p:nvSpPr>
        <p:spPr>
          <a:xfrm>
            <a:off x="365760" y="2496312"/>
            <a:ext cx="5029200" cy="658368"/>
          </a:xfrm>
          <a:prstGeom prst="rect">
            <a:avLst/>
          </a:prstGeom>
          <a:solidFill>
            <a:srgbClr val="1E293B"/>
          </a:solidFill>
          <a:ln/>
        </p:spPr>
        <p:txBody>
          <a:bodyPr/>
          <a:lstStyle/>
          <a:p>
            <a:endParaRPr lang="fr-FR"/>
          </a:p>
        </p:txBody>
      </p:sp>
      <p:pic>
        <p:nvPicPr>
          <p:cNvPr id="12" name="Image 2" descr="preencoded.png"/>
          <p:cNvPicPr>
            <a:picLocks noChangeAspect="1"/>
          </p:cNvPicPr>
          <p:nvPr/>
        </p:nvPicPr>
        <p:blipFill>
          <a:blip r:embed="rId5"/>
          <a:stretch>
            <a:fillRect/>
          </a:stretch>
        </p:blipFill>
        <p:spPr>
          <a:xfrm>
            <a:off x="502920" y="2651760"/>
            <a:ext cx="329184" cy="329184"/>
          </a:xfrm>
          <a:prstGeom prst="rect">
            <a:avLst/>
          </a:prstGeom>
        </p:spPr>
      </p:pic>
      <p:sp>
        <p:nvSpPr>
          <p:cNvPr id="13" name="Text 8"/>
          <p:cNvSpPr/>
          <p:nvPr/>
        </p:nvSpPr>
        <p:spPr>
          <a:xfrm>
            <a:off x="1005840" y="2569464"/>
            <a:ext cx="1828800" cy="274320"/>
          </a:xfrm>
          <a:prstGeom prst="rect">
            <a:avLst/>
          </a:prstGeom>
          <a:noFill/>
          <a:ln/>
        </p:spPr>
        <p:txBody>
          <a:bodyPr wrap="square" rtlCol="0" anchor="ctr"/>
          <a:lstStyle/>
          <a:p>
            <a:pPr marL="0" indent="0">
              <a:buNone/>
            </a:pPr>
            <a:r>
              <a:rPr lang="en-US" sz="1200" b="1" dirty="0">
                <a:solidFill>
                  <a:srgbClr val="3B82F6"/>
                </a:solidFill>
                <a:latin typeface="Calibri" pitchFamily="34" charset="0"/>
                <a:ea typeface="Calibri" pitchFamily="34" charset="-122"/>
                <a:cs typeface="Calibri" pitchFamily="34" charset="-120"/>
              </a:rPr>
              <a:t>Nouvelle tuile</a:t>
            </a:r>
            <a:endParaRPr lang="en-US" sz="1200" dirty="0"/>
          </a:p>
        </p:txBody>
      </p:sp>
      <p:sp>
        <p:nvSpPr>
          <p:cNvPr id="14" name="Text 9"/>
          <p:cNvSpPr/>
          <p:nvPr/>
        </p:nvSpPr>
        <p:spPr>
          <a:xfrm>
            <a:off x="1005840" y="2843784"/>
            <a:ext cx="4251960" cy="246888"/>
          </a:xfrm>
          <a:prstGeom prst="rect">
            <a:avLst/>
          </a:prstGeom>
          <a:noFill/>
          <a:ln/>
        </p:spPr>
        <p:txBody>
          <a:bodyPr wrap="square" rtlCol="0" anchor="ctr"/>
          <a:lstStyle/>
          <a:p>
            <a:pPr marL="0" indent="0">
              <a:buNone/>
            </a:pPr>
            <a:r>
              <a:rPr lang="en-US" sz="1100" dirty="0">
                <a:solidFill>
                  <a:srgbClr val="94A3B8"/>
                </a:solidFill>
                <a:latin typeface="Calibri" pitchFamily="34" charset="0"/>
                <a:ea typeface="Calibri" pitchFamily="34" charset="-122"/>
                <a:cs typeface="Calibri" pitchFamily="34" charset="-120"/>
              </a:rPr>
              <a:t>Un '2' apparaît dans une case vide après chaque coup</a:t>
            </a:r>
            <a:endParaRPr lang="en-US" sz="1100" dirty="0"/>
          </a:p>
        </p:txBody>
      </p:sp>
      <p:sp>
        <p:nvSpPr>
          <p:cNvPr id="15" name="Shape 10"/>
          <p:cNvSpPr/>
          <p:nvPr/>
        </p:nvSpPr>
        <p:spPr>
          <a:xfrm>
            <a:off x="365760" y="3264408"/>
            <a:ext cx="5029200" cy="658368"/>
          </a:xfrm>
          <a:prstGeom prst="rect">
            <a:avLst/>
          </a:prstGeom>
          <a:solidFill>
            <a:srgbClr val="1E293B"/>
          </a:solidFill>
          <a:ln/>
        </p:spPr>
        <p:txBody>
          <a:bodyPr/>
          <a:lstStyle/>
          <a:p>
            <a:endParaRPr lang="fr-FR"/>
          </a:p>
        </p:txBody>
      </p:sp>
      <p:pic>
        <p:nvPicPr>
          <p:cNvPr id="16" name="Image 3" descr="preencoded.png"/>
          <p:cNvPicPr>
            <a:picLocks noChangeAspect="1"/>
          </p:cNvPicPr>
          <p:nvPr/>
        </p:nvPicPr>
        <p:blipFill>
          <a:blip r:embed="rId6"/>
          <a:stretch>
            <a:fillRect/>
          </a:stretch>
        </p:blipFill>
        <p:spPr>
          <a:xfrm>
            <a:off x="502920" y="3419856"/>
            <a:ext cx="329184" cy="329184"/>
          </a:xfrm>
          <a:prstGeom prst="rect">
            <a:avLst/>
          </a:prstGeom>
        </p:spPr>
      </p:pic>
      <p:sp>
        <p:nvSpPr>
          <p:cNvPr id="17" name="Text 11"/>
          <p:cNvSpPr/>
          <p:nvPr/>
        </p:nvSpPr>
        <p:spPr>
          <a:xfrm>
            <a:off x="1005840" y="3337560"/>
            <a:ext cx="1828800" cy="274320"/>
          </a:xfrm>
          <a:prstGeom prst="rect">
            <a:avLst/>
          </a:prstGeom>
          <a:noFill/>
          <a:ln/>
        </p:spPr>
        <p:txBody>
          <a:bodyPr wrap="square" rtlCol="0" anchor="ctr"/>
          <a:lstStyle/>
          <a:p>
            <a:pPr marL="0" indent="0">
              <a:buNone/>
            </a:pPr>
            <a:r>
              <a:rPr lang="en-US" sz="1200" b="1" dirty="0">
                <a:solidFill>
                  <a:srgbClr val="3B82F6"/>
                </a:solidFill>
                <a:latin typeface="Calibri" pitchFamily="34" charset="0"/>
                <a:ea typeface="Calibri" pitchFamily="34" charset="-122"/>
                <a:cs typeface="Calibri" pitchFamily="34" charset="-120"/>
              </a:rPr>
              <a:t>Victoire</a:t>
            </a:r>
            <a:endParaRPr lang="en-US" sz="1200" dirty="0"/>
          </a:p>
        </p:txBody>
      </p:sp>
      <p:sp>
        <p:nvSpPr>
          <p:cNvPr id="18" name="Text 12"/>
          <p:cNvSpPr/>
          <p:nvPr/>
        </p:nvSpPr>
        <p:spPr>
          <a:xfrm>
            <a:off x="1005840" y="3611880"/>
            <a:ext cx="4251960" cy="246888"/>
          </a:xfrm>
          <a:prstGeom prst="rect">
            <a:avLst/>
          </a:prstGeom>
          <a:noFill/>
          <a:ln/>
        </p:spPr>
        <p:txBody>
          <a:bodyPr wrap="square" rtlCol="0" anchor="ctr"/>
          <a:lstStyle/>
          <a:p>
            <a:pPr marL="0" indent="0">
              <a:buNone/>
            </a:pPr>
            <a:r>
              <a:rPr lang="en-US" sz="1100" dirty="0">
                <a:solidFill>
                  <a:srgbClr val="94A3B8"/>
                </a:solidFill>
                <a:latin typeface="Calibri" pitchFamily="34" charset="0"/>
                <a:ea typeface="Calibri" pitchFamily="34" charset="-122"/>
                <a:cs typeface="Calibri" pitchFamily="34" charset="-120"/>
              </a:rPr>
              <a:t>Atteindre la case 2048</a:t>
            </a:r>
            <a:endParaRPr lang="en-US" sz="1100" dirty="0"/>
          </a:p>
        </p:txBody>
      </p:sp>
      <p:sp>
        <p:nvSpPr>
          <p:cNvPr id="19" name="Shape 13"/>
          <p:cNvSpPr/>
          <p:nvPr/>
        </p:nvSpPr>
        <p:spPr>
          <a:xfrm>
            <a:off x="365760" y="4032504"/>
            <a:ext cx="5029200" cy="658368"/>
          </a:xfrm>
          <a:prstGeom prst="rect">
            <a:avLst/>
          </a:prstGeom>
          <a:solidFill>
            <a:srgbClr val="1E293B"/>
          </a:solidFill>
          <a:ln/>
        </p:spPr>
        <p:txBody>
          <a:bodyPr/>
          <a:lstStyle/>
          <a:p>
            <a:endParaRPr lang="fr-FR"/>
          </a:p>
        </p:txBody>
      </p:sp>
      <p:pic>
        <p:nvPicPr>
          <p:cNvPr id="20" name="Image 4" descr="preencoded.png"/>
          <p:cNvPicPr>
            <a:picLocks noChangeAspect="1"/>
          </p:cNvPicPr>
          <p:nvPr/>
        </p:nvPicPr>
        <p:blipFill>
          <a:blip r:embed="rId7"/>
          <a:stretch>
            <a:fillRect/>
          </a:stretch>
        </p:blipFill>
        <p:spPr>
          <a:xfrm>
            <a:off x="502920" y="4187952"/>
            <a:ext cx="329184" cy="329184"/>
          </a:xfrm>
          <a:prstGeom prst="rect">
            <a:avLst/>
          </a:prstGeom>
        </p:spPr>
      </p:pic>
      <p:sp>
        <p:nvSpPr>
          <p:cNvPr id="21" name="Text 14"/>
          <p:cNvSpPr/>
          <p:nvPr/>
        </p:nvSpPr>
        <p:spPr>
          <a:xfrm>
            <a:off x="1005840" y="4105656"/>
            <a:ext cx="1828800" cy="274320"/>
          </a:xfrm>
          <a:prstGeom prst="rect">
            <a:avLst/>
          </a:prstGeom>
          <a:noFill/>
          <a:ln/>
        </p:spPr>
        <p:txBody>
          <a:bodyPr wrap="square" rtlCol="0" anchor="ctr"/>
          <a:lstStyle/>
          <a:p>
            <a:pPr marL="0" indent="0">
              <a:buNone/>
            </a:pPr>
            <a:r>
              <a:rPr lang="en-US" sz="1200" b="1" dirty="0">
                <a:solidFill>
                  <a:srgbClr val="3B82F6"/>
                </a:solidFill>
                <a:latin typeface="Calibri" pitchFamily="34" charset="0"/>
                <a:ea typeface="Calibri" pitchFamily="34" charset="-122"/>
                <a:cs typeface="Calibri" pitchFamily="34" charset="-120"/>
              </a:rPr>
              <a:t>Défaite</a:t>
            </a:r>
            <a:endParaRPr lang="en-US" sz="1200" dirty="0"/>
          </a:p>
        </p:txBody>
      </p:sp>
      <p:sp>
        <p:nvSpPr>
          <p:cNvPr id="22" name="Text 15"/>
          <p:cNvSpPr/>
          <p:nvPr/>
        </p:nvSpPr>
        <p:spPr>
          <a:xfrm>
            <a:off x="1005840" y="4379976"/>
            <a:ext cx="4251960" cy="246888"/>
          </a:xfrm>
          <a:prstGeom prst="rect">
            <a:avLst/>
          </a:prstGeom>
          <a:noFill/>
          <a:ln/>
        </p:spPr>
        <p:txBody>
          <a:bodyPr wrap="square" rtlCol="0" anchor="ctr"/>
          <a:lstStyle/>
          <a:p>
            <a:pPr marL="0" indent="0">
              <a:buNone/>
            </a:pPr>
            <a:r>
              <a:rPr lang="en-US" sz="1100" dirty="0">
                <a:solidFill>
                  <a:srgbClr val="94A3B8"/>
                </a:solidFill>
                <a:latin typeface="Calibri" pitchFamily="34" charset="0"/>
                <a:ea typeface="Calibri" pitchFamily="34" charset="-122"/>
                <a:cs typeface="Calibri" pitchFamily="34" charset="-120"/>
              </a:rPr>
              <a:t>Aucun mouvement possible (grille bloquée)</a:t>
            </a:r>
            <a:endParaRPr lang="en-US" sz="1100" dirty="0"/>
          </a:p>
        </p:txBody>
      </p:sp>
      <p:sp>
        <p:nvSpPr>
          <p:cNvPr id="23" name="Shape 16"/>
          <p:cNvSpPr/>
          <p:nvPr/>
        </p:nvSpPr>
        <p:spPr>
          <a:xfrm>
            <a:off x="6035040" y="1554480"/>
            <a:ext cx="2368296" cy="2368296"/>
          </a:xfrm>
          <a:prstGeom prst="rect">
            <a:avLst/>
          </a:prstGeom>
          <a:solidFill>
            <a:srgbClr val="334155"/>
          </a:solidFill>
          <a:ln/>
        </p:spPr>
        <p:txBody>
          <a:bodyPr/>
          <a:lstStyle/>
          <a:p>
            <a:endParaRPr lang="fr-FR"/>
          </a:p>
        </p:txBody>
      </p:sp>
      <p:sp>
        <p:nvSpPr>
          <p:cNvPr id="24" name="Shape 17"/>
          <p:cNvSpPr/>
          <p:nvPr/>
        </p:nvSpPr>
        <p:spPr>
          <a:xfrm>
            <a:off x="6099048" y="1618488"/>
            <a:ext cx="512064" cy="512064"/>
          </a:xfrm>
          <a:prstGeom prst="rect">
            <a:avLst/>
          </a:prstGeom>
          <a:solidFill>
            <a:srgbClr val="475569"/>
          </a:solidFill>
          <a:ln/>
        </p:spPr>
        <p:txBody>
          <a:bodyPr/>
          <a:lstStyle/>
          <a:p>
            <a:endParaRPr lang="fr-FR"/>
          </a:p>
        </p:txBody>
      </p:sp>
      <p:sp>
        <p:nvSpPr>
          <p:cNvPr id="25" name="Shape 18"/>
          <p:cNvSpPr/>
          <p:nvPr/>
        </p:nvSpPr>
        <p:spPr>
          <a:xfrm>
            <a:off x="6675120" y="1618488"/>
            <a:ext cx="512064" cy="512064"/>
          </a:xfrm>
          <a:prstGeom prst="rect">
            <a:avLst/>
          </a:prstGeom>
          <a:solidFill>
            <a:srgbClr val="475569"/>
          </a:solidFill>
          <a:ln/>
        </p:spPr>
        <p:txBody>
          <a:bodyPr/>
          <a:lstStyle/>
          <a:p>
            <a:endParaRPr lang="fr-FR"/>
          </a:p>
        </p:txBody>
      </p:sp>
      <p:sp>
        <p:nvSpPr>
          <p:cNvPr id="26" name="Shape 19"/>
          <p:cNvSpPr/>
          <p:nvPr/>
        </p:nvSpPr>
        <p:spPr>
          <a:xfrm>
            <a:off x="7251192" y="1618488"/>
            <a:ext cx="512064" cy="512064"/>
          </a:xfrm>
          <a:prstGeom prst="rect">
            <a:avLst/>
          </a:prstGeom>
          <a:solidFill>
            <a:srgbClr val="E2E8F0"/>
          </a:solidFill>
          <a:ln/>
        </p:spPr>
        <p:txBody>
          <a:bodyPr/>
          <a:lstStyle/>
          <a:p>
            <a:endParaRPr lang="fr-FR"/>
          </a:p>
        </p:txBody>
      </p:sp>
      <p:sp>
        <p:nvSpPr>
          <p:cNvPr id="27" name="Text 20"/>
          <p:cNvSpPr/>
          <p:nvPr/>
        </p:nvSpPr>
        <p:spPr>
          <a:xfrm>
            <a:off x="7251192" y="1618488"/>
            <a:ext cx="512064" cy="512064"/>
          </a:xfrm>
          <a:prstGeom prst="rect">
            <a:avLst/>
          </a:prstGeom>
          <a:noFill/>
          <a:ln/>
        </p:spPr>
        <p:txBody>
          <a:bodyPr wrap="square" lIns="0" tIns="0" rIns="0" bIns="0" rtlCol="0" anchor="ctr"/>
          <a:lstStyle/>
          <a:p>
            <a:pPr marL="0" indent="0" algn="ctr">
              <a:buNone/>
            </a:pPr>
            <a:r>
              <a:rPr lang="en-US" sz="1300" b="1" dirty="0">
                <a:solidFill>
                  <a:srgbClr val="475569"/>
                </a:solidFill>
              </a:rPr>
              <a:t>2</a:t>
            </a:r>
            <a:endParaRPr lang="en-US" sz="1300" dirty="0"/>
          </a:p>
        </p:txBody>
      </p:sp>
      <p:sp>
        <p:nvSpPr>
          <p:cNvPr id="28" name="Shape 21"/>
          <p:cNvSpPr/>
          <p:nvPr/>
        </p:nvSpPr>
        <p:spPr>
          <a:xfrm>
            <a:off x="7827264" y="1618488"/>
            <a:ext cx="512064" cy="512064"/>
          </a:xfrm>
          <a:prstGeom prst="rect">
            <a:avLst/>
          </a:prstGeom>
          <a:solidFill>
            <a:srgbClr val="FEF08A"/>
          </a:solidFill>
          <a:ln/>
        </p:spPr>
        <p:txBody>
          <a:bodyPr/>
          <a:lstStyle/>
          <a:p>
            <a:endParaRPr lang="fr-FR"/>
          </a:p>
        </p:txBody>
      </p:sp>
      <p:sp>
        <p:nvSpPr>
          <p:cNvPr id="29" name="Text 22"/>
          <p:cNvSpPr/>
          <p:nvPr/>
        </p:nvSpPr>
        <p:spPr>
          <a:xfrm>
            <a:off x="7827264" y="1618488"/>
            <a:ext cx="512064" cy="512064"/>
          </a:xfrm>
          <a:prstGeom prst="rect">
            <a:avLst/>
          </a:prstGeom>
          <a:noFill/>
          <a:ln/>
        </p:spPr>
        <p:txBody>
          <a:bodyPr wrap="square" lIns="0" tIns="0" rIns="0" bIns="0" rtlCol="0" anchor="ctr"/>
          <a:lstStyle/>
          <a:p>
            <a:pPr marL="0" indent="0" algn="ctr">
              <a:buNone/>
            </a:pPr>
            <a:r>
              <a:rPr lang="en-US" sz="1300" b="1" dirty="0">
                <a:solidFill>
                  <a:srgbClr val="475569"/>
                </a:solidFill>
              </a:rPr>
              <a:t>4</a:t>
            </a:r>
            <a:endParaRPr lang="en-US" sz="1300" dirty="0"/>
          </a:p>
        </p:txBody>
      </p:sp>
      <p:sp>
        <p:nvSpPr>
          <p:cNvPr id="30" name="Shape 23"/>
          <p:cNvSpPr/>
          <p:nvPr/>
        </p:nvSpPr>
        <p:spPr>
          <a:xfrm>
            <a:off x="6099048" y="2194560"/>
            <a:ext cx="512064" cy="512064"/>
          </a:xfrm>
          <a:prstGeom prst="rect">
            <a:avLst/>
          </a:prstGeom>
          <a:solidFill>
            <a:srgbClr val="475569"/>
          </a:solidFill>
          <a:ln/>
        </p:spPr>
        <p:txBody>
          <a:bodyPr/>
          <a:lstStyle/>
          <a:p>
            <a:endParaRPr lang="fr-FR"/>
          </a:p>
        </p:txBody>
      </p:sp>
      <p:sp>
        <p:nvSpPr>
          <p:cNvPr id="31" name="Shape 24"/>
          <p:cNvSpPr/>
          <p:nvPr/>
        </p:nvSpPr>
        <p:spPr>
          <a:xfrm>
            <a:off x="6675120" y="2194560"/>
            <a:ext cx="512064" cy="512064"/>
          </a:xfrm>
          <a:prstGeom prst="rect">
            <a:avLst/>
          </a:prstGeom>
          <a:solidFill>
            <a:srgbClr val="FED7AA"/>
          </a:solidFill>
          <a:ln/>
        </p:spPr>
        <p:txBody>
          <a:bodyPr/>
          <a:lstStyle/>
          <a:p>
            <a:endParaRPr lang="fr-FR"/>
          </a:p>
        </p:txBody>
      </p:sp>
      <p:sp>
        <p:nvSpPr>
          <p:cNvPr id="32" name="Text 25"/>
          <p:cNvSpPr/>
          <p:nvPr/>
        </p:nvSpPr>
        <p:spPr>
          <a:xfrm>
            <a:off x="6675120" y="2194560"/>
            <a:ext cx="512064" cy="512064"/>
          </a:xfrm>
          <a:prstGeom prst="rect">
            <a:avLst/>
          </a:prstGeom>
          <a:noFill/>
          <a:ln/>
        </p:spPr>
        <p:txBody>
          <a:bodyPr wrap="square" lIns="0" tIns="0" rIns="0" bIns="0" rtlCol="0" anchor="ctr"/>
          <a:lstStyle/>
          <a:p>
            <a:pPr marL="0" indent="0" algn="ctr">
              <a:buNone/>
            </a:pPr>
            <a:r>
              <a:rPr lang="en-US" sz="1300" b="1" dirty="0">
                <a:solidFill>
                  <a:srgbClr val="FFFFFF"/>
                </a:solidFill>
              </a:rPr>
              <a:t>8</a:t>
            </a:r>
            <a:endParaRPr lang="en-US" sz="1300" dirty="0"/>
          </a:p>
        </p:txBody>
      </p:sp>
      <p:sp>
        <p:nvSpPr>
          <p:cNvPr id="33" name="Shape 26"/>
          <p:cNvSpPr/>
          <p:nvPr/>
        </p:nvSpPr>
        <p:spPr>
          <a:xfrm>
            <a:off x="7251192" y="2194560"/>
            <a:ext cx="512064" cy="512064"/>
          </a:xfrm>
          <a:prstGeom prst="rect">
            <a:avLst/>
          </a:prstGeom>
          <a:solidFill>
            <a:srgbClr val="FCA5A5"/>
          </a:solidFill>
          <a:ln/>
        </p:spPr>
        <p:txBody>
          <a:bodyPr/>
          <a:lstStyle/>
          <a:p>
            <a:endParaRPr lang="fr-FR"/>
          </a:p>
        </p:txBody>
      </p:sp>
      <p:sp>
        <p:nvSpPr>
          <p:cNvPr id="34" name="Text 27"/>
          <p:cNvSpPr/>
          <p:nvPr/>
        </p:nvSpPr>
        <p:spPr>
          <a:xfrm>
            <a:off x="7251192" y="2194560"/>
            <a:ext cx="512064" cy="512064"/>
          </a:xfrm>
          <a:prstGeom prst="rect">
            <a:avLst/>
          </a:prstGeom>
          <a:noFill/>
          <a:ln/>
        </p:spPr>
        <p:txBody>
          <a:bodyPr wrap="square" lIns="0" tIns="0" rIns="0" bIns="0" rtlCol="0" anchor="ctr"/>
          <a:lstStyle/>
          <a:p>
            <a:pPr marL="0" indent="0" algn="ctr">
              <a:buNone/>
            </a:pPr>
            <a:r>
              <a:rPr lang="en-US" sz="1300" b="1" dirty="0">
                <a:solidFill>
                  <a:srgbClr val="FFFFFF"/>
                </a:solidFill>
              </a:rPr>
              <a:t>16</a:t>
            </a:r>
            <a:endParaRPr lang="en-US" sz="1300" dirty="0"/>
          </a:p>
        </p:txBody>
      </p:sp>
      <p:sp>
        <p:nvSpPr>
          <p:cNvPr id="35" name="Shape 28"/>
          <p:cNvSpPr/>
          <p:nvPr/>
        </p:nvSpPr>
        <p:spPr>
          <a:xfrm>
            <a:off x="7827264" y="2194560"/>
            <a:ext cx="512064" cy="512064"/>
          </a:xfrm>
          <a:prstGeom prst="rect">
            <a:avLst/>
          </a:prstGeom>
          <a:solidFill>
            <a:srgbClr val="FED7AA"/>
          </a:solidFill>
          <a:ln/>
        </p:spPr>
        <p:txBody>
          <a:bodyPr/>
          <a:lstStyle/>
          <a:p>
            <a:endParaRPr lang="fr-FR"/>
          </a:p>
        </p:txBody>
      </p:sp>
      <p:sp>
        <p:nvSpPr>
          <p:cNvPr id="36" name="Text 29"/>
          <p:cNvSpPr/>
          <p:nvPr/>
        </p:nvSpPr>
        <p:spPr>
          <a:xfrm>
            <a:off x="7827264" y="2194560"/>
            <a:ext cx="512064" cy="512064"/>
          </a:xfrm>
          <a:prstGeom prst="rect">
            <a:avLst/>
          </a:prstGeom>
          <a:noFill/>
          <a:ln/>
        </p:spPr>
        <p:txBody>
          <a:bodyPr wrap="square" lIns="0" tIns="0" rIns="0" bIns="0" rtlCol="0" anchor="ctr"/>
          <a:lstStyle/>
          <a:p>
            <a:pPr marL="0" indent="0" algn="ctr">
              <a:buNone/>
            </a:pPr>
            <a:r>
              <a:rPr lang="en-US" sz="1300" b="1" dirty="0">
                <a:solidFill>
                  <a:srgbClr val="FFFFFF"/>
                </a:solidFill>
              </a:rPr>
              <a:t>8</a:t>
            </a:r>
            <a:endParaRPr lang="en-US" sz="1300" dirty="0"/>
          </a:p>
        </p:txBody>
      </p:sp>
      <p:sp>
        <p:nvSpPr>
          <p:cNvPr id="37" name="Shape 30"/>
          <p:cNvSpPr/>
          <p:nvPr/>
        </p:nvSpPr>
        <p:spPr>
          <a:xfrm>
            <a:off x="6099048" y="2770632"/>
            <a:ext cx="512064" cy="512064"/>
          </a:xfrm>
          <a:prstGeom prst="rect">
            <a:avLst/>
          </a:prstGeom>
          <a:solidFill>
            <a:srgbClr val="FEF08A"/>
          </a:solidFill>
          <a:ln/>
        </p:spPr>
        <p:txBody>
          <a:bodyPr/>
          <a:lstStyle/>
          <a:p>
            <a:endParaRPr lang="fr-FR"/>
          </a:p>
        </p:txBody>
      </p:sp>
      <p:sp>
        <p:nvSpPr>
          <p:cNvPr id="38" name="Text 31"/>
          <p:cNvSpPr/>
          <p:nvPr/>
        </p:nvSpPr>
        <p:spPr>
          <a:xfrm>
            <a:off x="6099048" y="2770632"/>
            <a:ext cx="512064" cy="512064"/>
          </a:xfrm>
          <a:prstGeom prst="rect">
            <a:avLst/>
          </a:prstGeom>
          <a:noFill/>
          <a:ln/>
        </p:spPr>
        <p:txBody>
          <a:bodyPr wrap="square" lIns="0" tIns="0" rIns="0" bIns="0" rtlCol="0" anchor="ctr"/>
          <a:lstStyle/>
          <a:p>
            <a:pPr marL="0" indent="0" algn="ctr">
              <a:buNone/>
            </a:pPr>
            <a:r>
              <a:rPr lang="en-US" sz="1300" b="1" dirty="0">
                <a:solidFill>
                  <a:srgbClr val="475569"/>
                </a:solidFill>
              </a:rPr>
              <a:t>4</a:t>
            </a:r>
            <a:endParaRPr lang="en-US" sz="1300" dirty="0"/>
          </a:p>
        </p:txBody>
      </p:sp>
      <p:sp>
        <p:nvSpPr>
          <p:cNvPr id="39" name="Shape 32"/>
          <p:cNvSpPr/>
          <p:nvPr/>
        </p:nvSpPr>
        <p:spPr>
          <a:xfrm>
            <a:off x="6675120" y="2770632"/>
            <a:ext cx="512064" cy="512064"/>
          </a:xfrm>
          <a:prstGeom prst="rect">
            <a:avLst/>
          </a:prstGeom>
          <a:solidFill>
            <a:srgbClr val="86EFAC"/>
          </a:solidFill>
          <a:ln/>
        </p:spPr>
        <p:txBody>
          <a:bodyPr/>
          <a:lstStyle/>
          <a:p>
            <a:endParaRPr lang="fr-FR"/>
          </a:p>
        </p:txBody>
      </p:sp>
      <p:sp>
        <p:nvSpPr>
          <p:cNvPr id="40" name="Text 33"/>
          <p:cNvSpPr/>
          <p:nvPr/>
        </p:nvSpPr>
        <p:spPr>
          <a:xfrm>
            <a:off x="6675120" y="2770632"/>
            <a:ext cx="512064" cy="512064"/>
          </a:xfrm>
          <a:prstGeom prst="rect">
            <a:avLst/>
          </a:prstGeom>
          <a:noFill/>
          <a:ln/>
        </p:spPr>
        <p:txBody>
          <a:bodyPr wrap="square" lIns="0" tIns="0" rIns="0" bIns="0" rtlCol="0" anchor="ctr"/>
          <a:lstStyle/>
          <a:p>
            <a:pPr marL="0" indent="0" algn="ctr">
              <a:buNone/>
            </a:pPr>
            <a:r>
              <a:rPr lang="en-US" sz="1300" b="1" dirty="0">
                <a:solidFill>
                  <a:srgbClr val="FFFFFF"/>
                </a:solidFill>
              </a:rPr>
              <a:t>32</a:t>
            </a:r>
            <a:endParaRPr lang="en-US" sz="1300" dirty="0"/>
          </a:p>
        </p:txBody>
      </p:sp>
      <p:sp>
        <p:nvSpPr>
          <p:cNvPr id="41" name="Shape 34"/>
          <p:cNvSpPr/>
          <p:nvPr/>
        </p:nvSpPr>
        <p:spPr>
          <a:xfrm>
            <a:off x="7251192" y="2770632"/>
            <a:ext cx="512064" cy="512064"/>
          </a:xfrm>
          <a:prstGeom prst="rect">
            <a:avLst/>
          </a:prstGeom>
          <a:solidFill>
            <a:srgbClr val="93C5FD"/>
          </a:solidFill>
          <a:ln/>
        </p:spPr>
        <p:txBody>
          <a:bodyPr/>
          <a:lstStyle/>
          <a:p>
            <a:endParaRPr lang="fr-FR"/>
          </a:p>
        </p:txBody>
      </p:sp>
      <p:sp>
        <p:nvSpPr>
          <p:cNvPr id="42" name="Text 35"/>
          <p:cNvSpPr/>
          <p:nvPr/>
        </p:nvSpPr>
        <p:spPr>
          <a:xfrm>
            <a:off x="7251192" y="2770632"/>
            <a:ext cx="512064" cy="512064"/>
          </a:xfrm>
          <a:prstGeom prst="rect">
            <a:avLst/>
          </a:prstGeom>
          <a:noFill/>
          <a:ln/>
        </p:spPr>
        <p:txBody>
          <a:bodyPr wrap="square" lIns="0" tIns="0" rIns="0" bIns="0" rtlCol="0" anchor="ctr"/>
          <a:lstStyle/>
          <a:p>
            <a:pPr marL="0" indent="0" algn="ctr">
              <a:buNone/>
            </a:pPr>
            <a:r>
              <a:rPr lang="en-US" sz="1300" b="1" dirty="0">
                <a:solidFill>
                  <a:srgbClr val="FFFFFF"/>
                </a:solidFill>
              </a:rPr>
              <a:t>64</a:t>
            </a:r>
            <a:endParaRPr lang="en-US" sz="1300" dirty="0"/>
          </a:p>
        </p:txBody>
      </p:sp>
      <p:sp>
        <p:nvSpPr>
          <p:cNvPr id="43" name="Shape 36"/>
          <p:cNvSpPr/>
          <p:nvPr/>
        </p:nvSpPr>
        <p:spPr>
          <a:xfrm>
            <a:off x="7827264" y="2770632"/>
            <a:ext cx="512064" cy="512064"/>
          </a:xfrm>
          <a:prstGeom prst="rect">
            <a:avLst/>
          </a:prstGeom>
          <a:solidFill>
            <a:srgbClr val="FEF08A"/>
          </a:solidFill>
          <a:ln/>
        </p:spPr>
        <p:txBody>
          <a:bodyPr/>
          <a:lstStyle/>
          <a:p>
            <a:endParaRPr lang="fr-FR"/>
          </a:p>
        </p:txBody>
      </p:sp>
      <p:sp>
        <p:nvSpPr>
          <p:cNvPr id="44" name="Text 37"/>
          <p:cNvSpPr/>
          <p:nvPr/>
        </p:nvSpPr>
        <p:spPr>
          <a:xfrm>
            <a:off x="7827264" y="2770632"/>
            <a:ext cx="512064" cy="512064"/>
          </a:xfrm>
          <a:prstGeom prst="rect">
            <a:avLst/>
          </a:prstGeom>
          <a:noFill/>
          <a:ln/>
        </p:spPr>
        <p:txBody>
          <a:bodyPr wrap="square" lIns="0" tIns="0" rIns="0" bIns="0" rtlCol="0" anchor="ctr"/>
          <a:lstStyle/>
          <a:p>
            <a:pPr marL="0" indent="0" algn="ctr">
              <a:buNone/>
            </a:pPr>
            <a:r>
              <a:rPr lang="en-US" sz="1300" b="1" dirty="0">
                <a:solidFill>
                  <a:srgbClr val="475569"/>
                </a:solidFill>
              </a:rPr>
              <a:t>4</a:t>
            </a:r>
            <a:endParaRPr lang="en-US" sz="1300" dirty="0"/>
          </a:p>
        </p:txBody>
      </p:sp>
      <p:sp>
        <p:nvSpPr>
          <p:cNvPr id="45" name="Shape 38"/>
          <p:cNvSpPr/>
          <p:nvPr/>
        </p:nvSpPr>
        <p:spPr>
          <a:xfrm>
            <a:off x="6099048" y="3346704"/>
            <a:ext cx="512064" cy="512064"/>
          </a:xfrm>
          <a:prstGeom prst="rect">
            <a:avLst/>
          </a:prstGeom>
          <a:solidFill>
            <a:srgbClr val="475569"/>
          </a:solidFill>
          <a:ln/>
        </p:spPr>
        <p:txBody>
          <a:bodyPr/>
          <a:lstStyle/>
          <a:p>
            <a:endParaRPr lang="fr-FR"/>
          </a:p>
        </p:txBody>
      </p:sp>
      <p:sp>
        <p:nvSpPr>
          <p:cNvPr id="46" name="Shape 39"/>
          <p:cNvSpPr/>
          <p:nvPr/>
        </p:nvSpPr>
        <p:spPr>
          <a:xfrm>
            <a:off x="6675120" y="3346704"/>
            <a:ext cx="512064" cy="512064"/>
          </a:xfrm>
          <a:prstGeom prst="rect">
            <a:avLst/>
          </a:prstGeom>
          <a:solidFill>
            <a:srgbClr val="FEF08A"/>
          </a:solidFill>
          <a:ln/>
        </p:spPr>
        <p:txBody>
          <a:bodyPr/>
          <a:lstStyle/>
          <a:p>
            <a:endParaRPr lang="fr-FR"/>
          </a:p>
        </p:txBody>
      </p:sp>
      <p:sp>
        <p:nvSpPr>
          <p:cNvPr id="47" name="Text 40"/>
          <p:cNvSpPr/>
          <p:nvPr/>
        </p:nvSpPr>
        <p:spPr>
          <a:xfrm>
            <a:off x="6675120" y="3346704"/>
            <a:ext cx="512064" cy="512064"/>
          </a:xfrm>
          <a:prstGeom prst="rect">
            <a:avLst/>
          </a:prstGeom>
          <a:noFill/>
          <a:ln/>
        </p:spPr>
        <p:txBody>
          <a:bodyPr wrap="square" lIns="0" tIns="0" rIns="0" bIns="0" rtlCol="0" anchor="ctr"/>
          <a:lstStyle/>
          <a:p>
            <a:pPr marL="0" indent="0" algn="ctr">
              <a:buNone/>
            </a:pPr>
            <a:r>
              <a:rPr lang="en-US" sz="1300" b="1" dirty="0">
                <a:solidFill>
                  <a:srgbClr val="475569"/>
                </a:solidFill>
              </a:rPr>
              <a:t>4</a:t>
            </a:r>
            <a:endParaRPr lang="en-US" sz="1300" dirty="0"/>
          </a:p>
        </p:txBody>
      </p:sp>
      <p:sp>
        <p:nvSpPr>
          <p:cNvPr id="48" name="Shape 41"/>
          <p:cNvSpPr/>
          <p:nvPr/>
        </p:nvSpPr>
        <p:spPr>
          <a:xfrm>
            <a:off x="7251192" y="3346704"/>
            <a:ext cx="512064" cy="512064"/>
          </a:xfrm>
          <a:prstGeom prst="rect">
            <a:avLst/>
          </a:prstGeom>
          <a:solidFill>
            <a:srgbClr val="C4B5FD"/>
          </a:solidFill>
          <a:ln/>
        </p:spPr>
        <p:txBody>
          <a:bodyPr/>
          <a:lstStyle/>
          <a:p>
            <a:endParaRPr lang="fr-FR"/>
          </a:p>
        </p:txBody>
      </p:sp>
      <p:sp>
        <p:nvSpPr>
          <p:cNvPr id="49" name="Text 42"/>
          <p:cNvSpPr/>
          <p:nvPr/>
        </p:nvSpPr>
        <p:spPr>
          <a:xfrm>
            <a:off x="7251192" y="3346704"/>
            <a:ext cx="512064" cy="512064"/>
          </a:xfrm>
          <a:prstGeom prst="rect">
            <a:avLst/>
          </a:prstGeom>
          <a:noFill/>
          <a:ln/>
        </p:spPr>
        <p:txBody>
          <a:bodyPr wrap="square" lIns="0" tIns="0" rIns="0" bIns="0" rtlCol="0" anchor="ctr"/>
          <a:lstStyle/>
          <a:p>
            <a:pPr marL="0" indent="0" algn="ctr">
              <a:buNone/>
            </a:pPr>
            <a:r>
              <a:rPr lang="en-US" sz="1000" b="1" dirty="0">
                <a:solidFill>
                  <a:srgbClr val="FFFFFF"/>
                </a:solidFill>
              </a:rPr>
              <a:t>128</a:t>
            </a:r>
            <a:endParaRPr lang="en-US" sz="1000" dirty="0"/>
          </a:p>
        </p:txBody>
      </p:sp>
      <p:sp>
        <p:nvSpPr>
          <p:cNvPr id="50" name="Shape 43"/>
          <p:cNvSpPr/>
          <p:nvPr/>
        </p:nvSpPr>
        <p:spPr>
          <a:xfrm>
            <a:off x="7827264" y="3346704"/>
            <a:ext cx="512064" cy="512064"/>
          </a:xfrm>
          <a:prstGeom prst="rect">
            <a:avLst/>
          </a:prstGeom>
          <a:solidFill>
            <a:srgbClr val="86EFAC"/>
          </a:solidFill>
          <a:ln/>
        </p:spPr>
        <p:txBody>
          <a:bodyPr/>
          <a:lstStyle/>
          <a:p>
            <a:endParaRPr lang="fr-FR"/>
          </a:p>
        </p:txBody>
      </p:sp>
      <p:sp>
        <p:nvSpPr>
          <p:cNvPr id="51" name="Text 44"/>
          <p:cNvSpPr/>
          <p:nvPr/>
        </p:nvSpPr>
        <p:spPr>
          <a:xfrm>
            <a:off x="7827264" y="3346704"/>
            <a:ext cx="512064" cy="512064"/>
          </a:xfrm>
          <a:prstGeom prst="rect">
            <a:avLst/>
          </a:prstGeom>
          <a:noFill/>
          <a:ln/>
        </p:spPr>
        <p:txBody>
          <a:bodyPr wrap="square" lIns="0" tIns="0" rIns="0" bIns="0" rtlCol="0" anchor="ctr"/>
          <a:lstStyle/>
          <a:p>
            <a:pPr marL="0" indent="0" algn="ctr">
              <a:buNone/>
            </a:pPr>
            <a:r>
              <a:rPr lang="en-US" sz="1300" b="1" dirty="0">
                <a:solidFill>
                  <a:srgbClr val="FFFFFF"/>
                </a:solidFill>
              </a:rPr>
              <a:t>32</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a:effectLst/>
      </p:bgPr>
    </p:bg>
    <p:spTree>
      <p:nvGrpSpPr>
        <p:cNvPr id="1" name=""/>
        <p:cNvGrpSpPr/>
        <p:nvPr/>
      </p:nvGrpSpPr>
      <p:grpSpPr>
        <a:xfrm>
          <a:off x="0" y="0"/>
          <a:ext cx="0" cy="0"/>
          <a:chOff x="0" y="0"/>
          <a:chExt cx="0" cy="0"/>
        </a:xfrm>
      </p:grpSpPr>
      <p:sp>
        <p:nvSpPr>
          <p:cNvPr id="29" name="Text 0">
            <a:extLst>
              <a:ext uri="{FF2B5EF4-FFF2-40B4-BE49-F238E27FC236}">
                <a16:creationId xmlns:a16="http://schemas.microsoft.com/office/drawing/2014/main" id="{A072A2B4-5E70-6661-FD63-E3081B5B8384}"/>
              </a:ext>
            </a:extLst>
          </p:cNvPr>
          <p:cNvSpPr/>
          <p:nvPr/>
        </p:nvSpPr>
        <p:spPr>
          <a:xfrm>
            <a:off x="457199" y="228600"/>
            <a:ext cx="8146455" cy="594360"/>
          </a:xfrm>
          <a:prstGeom prst="rect">
            <a:avLst/>
          </a:prstGeom>
          <a:noFill/>
          <a:ln/>
        </p:spPr>
        <p:txBody>
          <a:bodyPr wrap="square"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Bonus et </a:t>
            </a:r>
            <a:r>
              <a:rPr lang="en-US" sz="2800" b="1" dirty="0" err="1">
                <a:solidFill>
                  <a:srgbClr val="FFFFFF"/>
                </a:solidFill>
                <a:latin typeface="Cambria" pitchFamily="34" charset="0"/>
                <a:ea typeface="Cambria" pitchFamily="34" charset="-122"/>
                <a:cs typeface="Cambria" pitchFamily="34" charset="-120"/>
              </a:rPr>
              <a:t>fonctions</a:t>
            </a:r>
            <a:r>
              <a:rPr lang="en-US" sz="2800" b="1" dirty="0">
                <a:solidFill>
                  <a:srgbClr val="FFFFFF"/>
                </a:solidFill>
                <a:latin typeface="Cambria" pitchFamily="34" charset="0"/>
                <a:ea typeface="Cambria" pitchFamily="34" charset="-122"/>
                <a:cs typeface="Cambria" pitchFamily="34" charset="-120"/>
              </a:rPr>
              <a:t> </a:t>
            </a:r>
            <a:r>
              <a:rPr lang="en-US" sz="2800" b="1" dirty="0" err="1">
                <a:solidFill>
                  <a:srgbClr val="FFFFFF"/>
                </a:solidFill>
                <a:latin typeface="Cambria" pitchFamily="34" charset="0"/>
                <a:ea typeface="Cambria" pitchFamily="34" charset="-122"/>
                <a:cs typeface="Cambria" pitchFamily="34" charset="-120"/>
              </a:rPr>
              <a:t>additionnelles</a:t>
            </a:r>
            <a:endParaRPr lang="en-US" sz="2800" dirty="0"/>
          </a:p>
        </p:txBody>
      </p:sp>
      <p:sp>
        <p:nvSpPr>
          <p:cNvPr id="31" name="Shape 1">
            <a:extLst>
              <a:ext uri="{FF2B5EF4-FFF2-40B4-BE49-F238E27FC236}">
                <a16:creationId xmlns:a16="http://schemas.microsoft.com/office/drawing/2014/main" id="{B046D8E5-AB47-1129-44B4-D1AFF7B9884E}"/>
              </a:ext>
            </a:extLst>
          </p:cNvPr>
          <p:cNvSpPr/>
          <p:nvPr/>
        </p:nvSpPr>
        <p:spPr>
          <a:xfrm>
            <a:off x="365760" y="1029232"/>
            <a:ext cx="5029200" cy="658368"/>
          </a:xfrm>
          <a:prstGeom prst="rect">
            <a:avLst/>
          </a:prstGeom>
          <a:solidFill>
            <a:srgbClr val="1E293B"/>
          </a:solidFill>
          <a:ln/>
        </p:spPr>
        <p:txBody>
          <a:bodyPr/>
          <a:lstStyle/>
          <a:p>
            <a:endParaRPr lang="fr-FR"/>
          </a:p>
        </p:txBody>
      </p:sp>
      <p:sp>
        <p:nvSpPr>
          <p:cNvPr id="33" name="Shape 1">
            <a:extLst>
              <a:ext uri="{FF2B5EF4-FFF2-40B4-BE49-F238E27FC236}">
                <a16:creationId xmlns:a16="http://schemas.microsoft.com/office/drawing/2014/main" id="{6AC694AE-AB22-4CE2-FFB4-4FC28DF3D33A}"/>
              </a:ext>
            </a:extLst>
          </p:cNvPr>
          <p:cNvSpPr/>
          <p:nvPr/>
        </p:nvSpPr>
        <p:spPr>
          <a:xfrm>
            <a:off x="365760" y="1982494"/>
            <a:ext cx="5029200" cy="658368"/>
          </a:xfrm>
          <a:prstGeom prst="rect">
            <a:avLst/>
          </a:prstGeom>
          <a:solidFill>
            <a:srgbClr val="1E293B"/>
          </a:solidFill>
          <a:ln/>
        </p:spPr>
        <p:txBody>
          <a:bodyPr/>
          <a:lstStyle/>
          <a:p>
            <a:endParaRPr lang="fr-FR"/>
          </a:p>
        </p:txBody>
      </p:sp>
      <p:sp>
        <p:nvSpPr>
          <p:cNvPr id="35" name="Shape 1">
            <a:extLst>
              <a:ext uri="{FF2B5EF4-FFF2-40B4-BE49-F238E27FC236}">
                <a16:creationId xmlns:a16="http://schemas.microsoft.com/office/drawing/2014/main" id="{F1A8763C-411E-47CE-DBA2-7C2620916396}"/>
              </a:ext>
            </a:extLst>
          </p:cNvPr>
          <p:cNvSpPr/>
          <p:nvPr/>
        </p:nvSpPr>
        <p:spPr>
          <a:xfrm>
            <a:off x="365760" y="2935756"/>
            <a:ext cx="5029200" cy="658368"/>
          </a:xfrm>
          <a:prstGeom prst="rect">
            <a:avLst/>
          </a:prstGeom>
          <a:solidFill>
            <a:srgbClr val="1E293B"/>
          </a:solidFill>
          <a:ln/>
        </p:spPr>
        <p:txBody>
          <a:bodyPr/>
          <a:lstStyle/>
          <a:p>
            <a:endParaRPr lang="fr-FR"/>
          </a:p>
        </p:txBody>
      </p:sp>
      <p:sp>
        <p:nvSpPr>
          <p:cNvPr id="37" name="Shape 1">
            <a:extLst>
              <a:ext uri="{FF2B5EF4-FFF2-40B4-BE49-F238E27FC236}">
                <a16:creationId xmlns:a16="http://schemas.microsoft.com/office/drawing/2014/main" id="{85D7216D-FC9E-C657-2AA6-02322496DCBB}"/>
              </a:ext>
            </a:extLst>
          </p:cNvPr>
          <p:cNvSpPr/>
          <p:nvPr/>
        </p:nvSpPr>
        <p:spPr>
          <a:xfrm>
            <a:off x="365760" y="3889018"/>
            <a:ext cx="5029200" cy="658368"/>
          </a:xfrm>
          <a:prstGeom prst="rect">
            <a:avLst/>
          </a:prstGeom>
          <a:solidFill>
            <a:srgbClr val="1E293B"/>
          </a:solidFill>
          <a:ln/>
        </p:spPr>
        <p:txBody>
          <a:bodyPr/>
          <a:lstStyle/>
          <a:p>
            <a:endParaRPr lang="fr-FR"/>
          </a:p>
        </p:txBody>
      </p:sp>
      <p:pic>
        <p:nvPicPr>
          <p:cNvPr id="39" name="Image 0" descr="preencoded.png">
            <a:extLst>
              <a:ext uri="{FF2B5EF4-FFF2-40B4-BE49-F238E27FC236}">
                <a16:creationId xmlns:a16="http://schemas.microsoft.com/office/drawing/2014/main" id="{839173F6-990B-4125-46BC-7C105C028548}"/>
              </a:ext>
            </a:extLst>
          </p:cNvPr>
          <p:cNvPicPr>
            <a:picLocks noChangeAspect="1"/>
          </p:cNvPicPr>
          <p:nvPr/>
        </p:nvPicPr>
        <p:blipFill>
          <a:blip r:embed="rId3"/>
          <a:stretch>
            <a:fillRect/>
          </a:stretch>
        </p:blipFill>
        <p:spPr>
          <a:xfrm>
            <a:off x="502920" y="1193824"/>
            <a:ext cx="329184" cy="329184"/>
          </a:xfrm>
          <a:prstGeom prst="rect">
            <a:avLst/>
          </a:prstGeom>
        </p:spPr>
      </p:pic>
      <p:pic>
        <p:nvPicPr>
          <p:cNvPr id="43" name="Image 42">
            <a:extLst>
              <a:ext uri="{FF2B5EF4-FFF2-40B4-BE49-F238E27FC236}">
                <a16:creationId xmlns:a16="http://schemas.microsoft.com/office/drawing/2014/main" id="{90CCCE56-9E39-8267-50B2-B6F6554355B6}"/>
              </a:ext>
            </a:extLst>
          </p:cNvPr>
          <p:cNvPicPr>
            <a:picLocks noChangeAspect="1"/>
          </p:cNvPicPr>
          <p:nvPr/>
        </p:nvPicPr>
        <p:blipFill>
          <a:blip r:embed="rId4">
            <a:duotone>
              <a:schemeClr val="accent5">
                <a:shade val="45000"/>
                <a:satMod val="135000"/>
              </a:schemeClr>
              <a:prstClr val="white"/>
            </a:duotone>
          </a:blip>
          <a:stretch>
            <a:fillRect/>
          </a:stretch>
        </p:blipFill>
        <p:spPr>
          <a:xfrm>
            <a:off x="365760" y="1982494"/>
            <a:ext cx="658368" cy="658368"/>
          </a:xfrm>
          <a:prstGeom prst="rect">
            <a:avLst/>
          </a:prstGeom>
          <a:noFill/>
        </p:spPr>
      </p:pic>
      <p:pic>
        <p:nvPicPr>
          <p:cNvPr id="47" name="Image 2" descr="preencoded.png">
            <a:extLst>
              <a:ext uri="{FF2B5EF4-FFF2-40B4-BE49-F238E27FC236}">
                <a16:creationId xmlns:a16="http://schemas.microsoft.com/office/drawing/2014/main" id="{56E751BC-CC65-3687-D0FA-16EC7AFD5313}"/>
              </a:ext>
            </a:extLst>
          </p:cNvPr>
          <p:cNvPicPr>
            <a:picLocks noChangeAspect="1"/>
          </p:cNvPicPr>
          <p:nvPr/>
        </p:nvPicPr>
        <p:blipFill>
          <a:blip r:embed="rId5"/>
          <a:stretch>
            <a:fillRect/>
          </a:stretch>
        </p:blipFill>
        <p:spPr>
          <a:xfrm>
            <a:off x="416052" y="3013480"/>
            <a:ext cx="502920" cy="502920"/>
          </a:xfrm>
          <a:prstGeom prst="rect">
            <a:avLst/>
          </a:prstGeom>
        </p:spPr>
      </p:pic>
      <p:pic>
        <p:nvPicPr>
          <p:cNvPr id="53" name="Image 52">
            <a:extLst>
              <a:ext uri="{FF2B5EF4-FFF2-40B4-BE49-F238E27FC236}">
                <a16:creationId xmlns:a16="http://schemas.microsoft.com/office/drawing/2014/main" id="{C102A3ED-ED14-A0EC-F57F-768DB5D157BE}"/>
              </a:ext>
            </a:extLst>
          </p:cNvPr>
          <p:cNvPicPr>
            <a:picLocks noChangeAspect="1"/>
          </p:cNvPicPr>
          <p:nvPr/>
        </p:nvPicPr>
        <p:blipFill>
          <a:blip r:embed="rId6">
            <a:duotone>
              <a:schemeClr val="accent4">
                <a:shade val="45000"/>
                <a:satMod val="135000"/>
              </a:schemeClr>
              <a:prstClr val="white"/>
            </a:duotone>
          </a:blip>
          <a:stretch>
            <a:fillRect/>
          </a:stretch>
        </p:blipFill>
        <p:spPr>
          <a:xfrm flipV="1">
            <a:off x="457199" y="3949676"/>
            <a:ext cx="373781" cy="506464"/>
          </a:xfrm>
          <a:prstGeom prst="rect">
            <a:avLst/>
          </a:prstGeom>
          <a:noFill/>
        </p:spPr>
      </p:pic>
      <p:pic>
        <p:nvPicPr>
          <p:cNvPr id="57" name="Image 56">
            <a:extLst>
              <a:ext uri="{FF2B5EF4-FFF2-40B4-BE49-F238E27FC236}">
                <a16:creationId xmlns:a16="http://schemas.microsoft.com/office/drawing/2014/main" id="{A06834E2-1A08-D6EC-38D3-EC46EE30B17B}"/>
              </a:ext>
            </a:extLst>
          </p:cNvPr>
          <p:cNvPicPr>
            <a:picLocks noChangeAspect="1"/>
          </p:cNvPicPr>
          <p:nvPr/>
        </p:nvPicPr>
        <p:blipFill>
          <a:blip r:embed="rId7"/>
          <a:stretch>
            <a:fillRect/>
          </a:stretch>
        </p:blipFill>
        <p:spPr>
          <a:xfrm>
            <a:off x="5745200" y="1647128"/>
            <a:ext cx="2858454" cy="1849244"/>
          </a:xfrm>
          <a:prstGeom prst="rect">
            <a:avLst/>
          </a:prstGeom>
        </p:spPr>
      </p:pic>
      <p:sp>
        <p:nvSpPr>
          <p:cNvPr id="3" name="ZoneTexte 2">
            <a:extLst>
              <a:ext uri="{FF2B5EF4-FFF2-40B4-BE49-F238E27FC236}">
                <a16:creationId xmlns:a16="http://schemas.microsoft.com/office/drawing/2014/main" id="{4844D1BB-761E-E45B-11A9-B7DF68933AA2}"/>
              </a:ext>
            </a:extLst>
          </p:cNvPr>
          <p:cNvSpPr txBox="1"/>
          <p:nvPr/>
        </p:nvSpPr>
        <p:spPr>
          <a:xfrm>
            <a:off x="960120" y="1219916"/>
            <a:ext cx="4572000" cy="276999"/>
          </a:xfrm>
          <a:prstGeom prst="rect">
            <a:avLst/>
          </a:prstGeom>
          <a:noFill/>
        </p:spPr>
        <p:txBody>
          <a:bodyPr wrap="square">
            <a:spAutoFit/>
          </a:bodyPr>
          <a:lstStyle/>
          <a:p>
            <a:pPr marL="0" indent="0">
              <a:buNone/>
            </a:pPr>
            <a:r>
              <a:rPr lang="en-US" sz="1200" dirty="0">
                <a:solidFill>
                  <a:srgbClr val="94A3B8"/>
                </a:solidFill>
                <a:latin typeface="Calibri" pitchFamily="34" charset="0"/>
                <a:ea typeface="Calibri" pitchFamily="34" charset="-122"/>
                <a:cs typeface="Calibri" pitchFamily="34" charset="-120"/>
              </a:rPr>
              <a:t>Gestion des inputs clavier </a:t>
            </a:r>
            <a:r>
              <a:rPr lang="en-US" sz="1200" dirty="0" err="1">
                <a:solidFill>
                  <a:srgbClr val="94A3B8"/>
                </a:solidFill>
                <a:latin typeface="Calibri" pitchFamily="34" charset="0"/>
                <a:ea typeface="Calibri" pitchFamily="34" charset="-122"/>
                <a:cs typeface="Calibri" pitchFamily="34" charset="-120"/>
              </a:rPr>
              <a:t>en</a:t>
            </a:r>
            <a:r>
              <a:rPr lang="en-US" sz="1200" dirty="0">
                <a:solidFill>
                  <a:srgbClr val="94A3B8"/>
                </a:solidFill>
                <a:latin typeface="Calibri" pitchFamily="34" charset="0"/>
                <a:ea typeface="Calibri" pitchFamily="34" charset="-122"/>
                <a:cs typeface="Calibri" pitchFamily="34" charset="-120"/>
              </a:rPr>
              <a:t> temps </a:t>
            </a:r>
            <a:r>
              <a:rPr lang="en-US" sz="1200" dirty="0" err="1">
                <a:solidFill>
                  <a:srgbClr val="94A3B8"/>
                </a:solidFill>
                <a:latin typeface="Calibri" pitchFamily="34" charset="0"/>
                <a:ea typeface="Calibri" pitchFamily="34" charset="-122"/>
                <a:cs typeface="Calibri" pitchFamily="34" charset="-120"/>
              </a:rPr>
              <a:t>réel</a:t>
            </a:r>
            <a:endParaRPr lang="en-US" sz="1200" dirty="0"/>
          </a:p>
        </p:txBody>
      </p:sp>
      <p:sp>
        <p:nvSpPr>
          <p:cNvPr id="5" name="ZoneTexte 4">
            <a:extLst>
              <a:ext uri="{FF2B5EF4-FFF2-40B4-BE49-F238E27FC236}">
                <a16:creationId xmlns:a16="http://schemas.microsoft.com/office/drawing/2014/main" id="{5964878B-C3F0-666A-CE9D-C48059364A7A}"/>
              </a:ext>
            </a:extLst>
          </p:cNvPr>
          <p:cNvSpPr txBox="1"/>
          <p:nvPr/>
        </p:nvSpPr>
        <p:spPr>
          <a:xfrm>
            <a:off x="960120" y="2200121"/>
            <a:ext cx="4572000" cy="276999"/>
          </a:xfrm>
          <a:prstGeom prst="rect">
            <a:avLst/>
          </a:prstGeom>
          <a:noFill/>
        </p:spPr>
        <p:txBody>
          <a:bodyPr wrap="square">
            <a:spAutoFit/>
          </a:bodyPr>
          <a:lstStyle/>
          <a:p>
            <a:pPr marL="0" indent="0">
              <a:buNone/>
            </a:pPr>
            <a:r>
              <a:rPr lang="en-US" sz="1200" dirty="0" err="1">
                <a:solidFill>
                  <a:srgbClr val="94A3B8"/>
                </a:solidFill>
                <a:latin typeface="Calibri" pitchFamily="34" charset="0"/>
                <a:ea typeface="Calibri" pitchFamily="34" charset="-122"/>
                <a:cs typeface="Calibri" pitchFamily="34" charset="-120"/>
              </a:rPr>
              <a:t>Possibilité</a:t>
            </a:r>
            <a:r>
              <a:rPr lang="en-US" sz="1200" dirty="0">
                <a:solidFill>
                  <a:srgbClr val="94A3B8"/>
                </a:solidFill>
                <a:latin typeface="Calibri" pitchFamily="34" charset="0"/>
                <a:ea typeface="Calibri" pitchFamily="34" charset="-122"/>
                <a:cs typeface="Calibri" pitchFamily="34" charset="-120"/>
              </a:rPr>
              <a:t> de </a:t>
            </a:r>
            <a:r>
              <a:rPr lang="en-US" sz="1200" dirty="0" err="1">
                <a:solidFill>
                  <a:srgbClr val="94A3B8"/>
                </a:solidFill>
                <a:latin typeface="Calibri" pitchFamily="34" charset="0"/>
                <a:ea typeface="Calibri" pitchFamily="34" charset="-122"/>
                <a:cs typeface="Calibri" pitchFamily="34" charset="-120"/>
              </a:rPr>
              <a:t>rejouer</a:t>
            </a:r>
            <a:r>
              <a:rPr lang="en-US" sz="1200" dirty="0">
                <a:solidFill>
                  <a:srgbClr val="94A3B8"/>
                </a:solidFill>
                <a:latin typeface="Calibri" pitchFamily="34" charset="0"/>
                <a:ea typeface="Calibri" pitchFamily="34" charset="-122"/>
                <a:cs typeface="Calibri" pitchFamily="34" charset="-120"/>
              </a:rPr>
              <a:t> (</a:t>
            </a:r>
            <a:r>
              <a:rPr lang="en-US" sz="1200" dirty="0" err="1">
                <a:solidFill>
                  <a:srgbClr val="94A3B8"/>
                </a:solidFill>
                <a:latin typeface="Calibri" pitchFamily="34" charset="0"/>
                <a:ea typeface="Calibri" pitchFamily="34" charset="-122"/>
                <a:cs typeface="Calibri" pitchFamily="34" charset="-120"/>
              </a:rPr>
              <a:t>Sauvegarde</a:t>
            </a:r>
            <a:r>
              <a:rPr lang="en-US" sz="1200" dirty="0">
                <a:solidFill>
                  <a:srgbClr val="94A3B8"/>
                </a:solidFill>
                <a:latin typeface="Calibri" pitchFamily="34" charset="0"/>
                <a:ea typeface="Calibri" pitchFamily="34" charset="-122"/>
                <a:cs typeface="Calibri" pitchFamily="34" charset="-120"/>
              </a:rPr>
              <a:t> </a:t>
            </a:r>
            <a:r>
              <a:rPr lang="en-US" sz="1200" dirty="0" err="1">
                <a:solidFill>
                  <a:srgbClr val="94A3B8"/>
                </a:solidFill>
                <a:latin typeface="Calibri" pitchFamily="34" charset="0"/>
                <a:ea typeface="Calibri" pitchFamily="34" charset="-122"/>
                <a:cs typeface="Calibri" pitchFamily="34" charset="-120"/>
              </a:rPr>
              <a:t>fonctionnelle</a:t>
            </a:r>
            <a:r>
              <a:rPr lang="en-US" sz="1200" dirty="0">
                <a:solidFill>
                  <a:srgbClr val="94A3B8"/>
                </a:solidFill>
                <a:latin typeface="Calibri" pitchFamily="34" charset="0"/>
                <a:ea typeface="Calibri" pitchFamily="34" charset="-122"/>
                <a:cs typeface="Calibri" pitchFamily="34" charset="-120"/>
              </a:rPr>
              <a:t>)</a:t>
            </a:r>
            <a:endParaRPr lang="en-US" sz="1200" dirty="0"/>
          </a:p>
        </p:txBody>
      </p:sp>
      <p:sp>
        <p:nvSpPr>
          <p:cNvPr id="7" name="ZoneTexte 6">
            <a:extLst>
              <a:ext uri="{FF2B5EF4-FFF2-40B4-BE49-F238E27FC236}">
                <a16:creationId xmlns:a16="http://schemas.microsoft.com/office/drawing/2014/main" id="{F7DC5DB9-6BCA-B973-4FC1-45976CCCF274}"/>
              </a:ext>
            </a:extLst>
          </p:cNvPr>
          <p:cNvSpPr txBox="1"/>
          <p:nvPr/>
        </p:nvSpPr>
        <p:spPr>
          <a:xfrm>
            <a:off x="918972" y="3113097"/>
            <a:ext cx="4572000" cy="276999"/>
          </a:xfrm>
          <a:prstGeom prst="rect">
            <a:avLst/>
          </a:prstGeom>
          <a:noFill/>
        </p:spPr>
        <p:txBody>
          <a:bodyPr wrap="square">
            <a:spAutoFit/>
          </a:bodyPr>
          <a:lstStyle/>
          <a:p>
            <a:pPr marL="0" indent="0">
              <a:buNone/>
            </a:pPr>
            <a:r>
              <a:rPr lang="en-US" sz="1200" dirty="0">
                <a:solidFill>
                  <a:srgbClr val="94A3B8"/>
                </a:solidFill>
                <a:latin typeface="Calibri" pitchFamily="34" charset="0"/>
                <a:ea typeface="Calibri" pitchFamily="34" charset="-122"/>
                <a:cs typeface="Calibri" pitchFamily="34" charset="-120"/>
              </a:rPr>
              <a:t>Grille variable (choix entre du 3x3, 4x4 </a:t>
            </a:r>
            <a:r>
              <a:rPr lang="en-US" sz="1200" dirty="0" err="1">
                <a:solidFill>
                  <a:srgbClr val="94A3B8"/>
                </a:solidFill>
                <a:latin typeface="Calibri" pitchFamily="34" charset="0"/>
                <a:ea typeface="Calibri" pitchFamily="34" charset="-122"/>
                <a:cs typeface="Calibri" pitchFamily="34" charset="-120"/>
              </a:rPr>
              <a:t>ou</a:t>
            </a:r>
            <a:r>
              <a:rPr lang="en-US" sz="1200" dirty="0">
                <a:solidFill>
                  <a:srgbClr val="94A3B8"/>
                </a:solidFill>
                <a:latin typeface="Calibri" pitchFamily="34" charset="0"/>
                <a:ea typeface="Calibri" pitchFamily="34" charset="-122"/>
                <a:cs typeface="Calibri" pitchFamily="34" charset="-120"/>
              </a:rPr>
              <a:t> du 5x5)</a:t>
            </a:r>
            <a:endParaRPr lang="en-US" sz="1200" dirty="0"/>
          </a:p>
        </p:txBody>
      </p:sp>
      <p:sp>
        <p:nvSpPr>
          <p:cNvPr id="9" name="ZoneTexte 8">
            <a:extLst>
              <a:ext uri="{FF2B5EF4-FFF2-40B4-BE49-F238E27FC236}">
                <a16:creationId xmlns:a16="http://schemas.microsoft.com/office/drawing/2014/main" id="{853745DF-69C0-BC95-E626-4C10BBA09DA7}"/>
              </a:ext>
            </a:extLst>
          </p:cNvPr>
          <p:cNvSpPr txBox="1"/>
          <p:nvPr/>
        </p:nvSpPr>
        <p:spPr>
          <a:xfrm>
            <a:off x="960120" y="4079702"/>
            <a:ext cx="4572000" cy="276999"/>
          </a:xfrm>
          <a:prstGeom prst="rect">
            <a:avLst/>
          </a:prstGeom>
          <a:noFill/>
        </p:spPr>
        <p:txBody>
          <a:bodyPr wrap="square">
            <a:spAutoFit/>
          </a:bodyPr>
          <a:lstStyle/>
          <a:p>
            <a:pPr marL="0" indent="0">
              <a:buNone/>
            </a:pPr>
            <a:r>
              <a:rPr lang="en-US" sz="1200" dirty="0">
                <a:solidFill>
                  <a:srgbClr val="94A3B8"/>
                </a:solidFill>
                <a:latin typeface="Calibri" pitchFamily="34" charset="0"/>
                <a:ea typeface="Calibri" pitchFamily="34" charset="-122"/>
                <a:cs typeface="Calibri" pitchFamily="34" charset="-120"/>
              </a:rPr>
              <a:t>Gestion du score (</a:t>
            </a:r>
            <a:r>
              <a:rPr lang="en-US" sz="1200" dirty="0" err="1">
                <a:solidFill>
                  <a:srgbClr val="94A3B8"/>
                </a:solidFill>
                <a:latin typeface="Calibri" pitchFamily="34" charset="0"/>
                <a:ea typeface="Calibri" pitchFamily="34" charset="-122"/>
                <a:cs typeface="Calibri" pitchFamily="34" charset="-120"/>
              </a:rPr>
              <a:t>calcul</a:t>
            </a:r>
            <a:r>
              <a:rPr lang="en-US" sz="1200" dirty="0">
                <a:solidFill>
                  <a:srgbClr val="94A3B8"/>
                </a:solidFill>
                <a:latin typeface="Calibri" pitchFamily="34" charset="0"/>
                <a:ea typeface="Calibri" pitchFamily="34" charset="-122"/>
                <a:cs typeface="Calibri" pitchFamily="34" charset="-120"/>
              </a:rPr>
              <a:t> + </a:t>
            </a:r>
            <a:r>
              <a:rPr lang="en-US" sz="1200" dirty="0" err="1">
                <a:solidFill>
                  <a:srgbClr val="94A3B8"/>
                </a:solidFill>
                <a:latin typeface="Calibri" pitchFamily="34" charset="0"/>
                <a:ea typeface="Calibri" pitchFamily="34" charset="-122"/>
                <a:cs typeface="Calibri" pitchFamily="34" charset="-120"/>
              </a:rPr>
              <a:t>affichage</a:t>
            </a:r>
            <a:r>
              <a:rPr lang="en-US" sz="1200" dirty="0">
                <a:solidFill>
                  <a:srgbClr val="94A3B8"/>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94360"/>
          </a:xfrm>
          <a:prstGeom prst="rect">
            <a:avLst/>
          </a:prstGeom>
          <a:noFill/>
          <a:ln/>
        </p:spPr>
        <p:txBody>
          <a:bodyPr wrap="square" rtlCol="0" anchor="ctr"/>
          <a:lstStyle/>
          <a:p>
            <a:pPr marL="0" indent="0" algn="ctr">
              <a:buNone/>
            </a:pPr>
            <a:r>
              <a:rPr lang="en-US" sz="2800" b="1" dirty="0">
                <a:solidFill>
                  <a:schemeClr val="bg1">
                    <a:lumMod val="95000"/>
                  </a:schemeClr>
                </a:solidFill>
                <a:latin typeface="Cambria" pitchFamily="34" charset="0"/>
                <a:ea typeface="Cambria" pitchFamily="34" charset="-122"/>
                <a:cs typeface="Cambria" pitchFamily="34" charset="-120"/>
              </a:rPr>
              <a:t>Difficultés &amp; solutions</a:t>
            </a:r>
            <a:endParaRPr lang="en-US" sz="2800" dirty="0">
              <a:solidFill>
                <a:schemeClr val="bg1">
                  <a:lumMod val="95000"/>
                </a:schemeClr>
              </a:solidFill>
            </a:endParaRPr>
          </a:p>
        </p:txBody>
      </p:sp>
      <p:sp>
        <p:nvSpPr>
          <p:cNvPr id="3" name="Shape 1"/>
          <p:cNvSpPr/>
          <p:nvPr/>
        </p:nvSpPr>
        <p:spPr>
          <a:xfrm>
            <a:off x="365760" y="1115568"/>
            <a:ext cx="8412480" cy="804672"/>
          </a:xfrm>
          <a:prstGeom prst="rect">
            <a:avLst/>
          </a:prstGeom>
          <a:solidFill>
            <a:srgbClr val="1E293B"/>
          </a:solidFill>
          <a:ln/>
          <a:effectLst>
            <a:outerShdw blurRad="76200" dist="25400" dir="2700000" algn="bl" rotWithShape="0">
              <a:srgbClr val="000000">
                <a:alpha val="8000"/>
              </a:srgbClr>
            </a:outerShdw>
          </a:effectLst>
        </p:spPr>
        <p:txBody>
          <a:bodyPr/>
          <a:lstStyle/>
          <a:p>
            <a:endParaRPr lang="fr-FR"/>
          </a:p>
        </p:txBody>
      </p:sp>
      <p:pic>
        <p:nvPicPr>
          <p:cNvPr id="4" name="Image 0" descr="preencoded.png"/>
          <p:cNvPicPr>
            <a:picLocks noChangeAspect="1"/>
          </p:cNvPicPr>
          <p:nvPr/>
        </p:nvPicPr>
        <p:blipFill>
          <a:blip r:embed="rId3"/>
          <a:stretch>
            <a:fillRect/>
          </a:stretch>
        </p:blipFill>
        <p:spPr>
          <a:xfrm>
            <a:off x="502920" y="1280160"/>
            <a:ext cx="292608" cy="292608"/>
          </a:xfrm>
          <a:prstGeom prst="rect">
            <a:avLst/>
          </a:prstGeom>
        </p:spPr>
      </p:pic>
      <p:sp>
        <p:nvSpPr>
          <p:cNvPr id="5" name="Text 2"/>
          <p:cNvSpPr/>
          <p:nvPr/>
        </p:nvSpPr>
        <p:spPr>
          <a:xfrm>
            <a:off x="886968" y="1280160"/>
            <a:ext cx="3474720" cy="292608"/>
          </a:xfrm>
          <a:prstGeom prst="rect">
            <a:avLst/>
          </a:prstGeom>
          <a:noFill/>
          <a:ln/>
        </p:spPr>
        <p:txBody>
          <a:bodyPr wrap="square" rtlCol="0" anchor="ctr"/>
          <a:lstStyle/>
          <a:p>
            <a:pPr marL="0" indent="0">
              <a:buNone/>
            </a:pPr>
            <a:r>
              <a:rPr lang="en-US" sz="1200" b="1" dirty="0">
                <a:solidFill>
                  <a:schemeClr val="bg2"/>
                </a:solidFill>
                <a:latin typeface="Calibri" pitchFamily="34" charset="0"/>
                <a:ea typeface="Calibri" pitchFamily="34" charset="-122"/>
                <a:cs typeface="Calibri" pitchFamily="34" charset="-120"/>
              </a:rPr>
              <a:t>Bug de "saut" des tuiles</a:t>
            </a:r>
            <a:endParaRPr lang="en-US" sz="1200" dirty="0">
              <a:solidFill>
                <a:schemeClr val="bg2"/>
              </a:solidFill>
            </a:endParaRPr>
          </a:p>
        </p:txBody>
      </p:sp>
      <p:pic>
        <p:nvPicPr>
          <p:cNvPr id="6" name="Image 1" descr="preencoded.png"/>
          <p:cNvPicPr>
            <a:picLocks noChangeAspect="1"/>
          </p:cNvPicPr>
          <p:nvPr/>
        </p:nvPicPr>
        <p:blipFill>
          <a:blip r:embed="rId4"/>
          <a:stretch>
            <a:fillRect/>
          </a:stretch>
        </p:blipFill>
        <p:spPr>
          <a:xfrm>
            <a:off x="4572000" y="1280160"/>
            <a:ext cx="292608" cy="292608"/>
          </a:xfrm>
          <a:prstGeom prst="rect">
            <a:avLst/>
          </a:prstGeom>
        </p:spPr>
      </p:pic>
      <p:sp>
        <p:nvSpPr>
          <p:cNvPr id="7" name="Text 3"/>
          <p:cNvSpPr/>
          <p:nvPr/>
        </p:nvSpPr>
        <p:spPr>
          <a:xfrm>
            <a:off x="4956048" y="1188720"/>
            <a:ext cx="3657600" cy="594360"/>
          </a:xfrm>
          <a:prstGeom prst="rect">
            <a:avLst/>
          </a:prstGeom>
          <a:noFill/>
          <a:ln/>
        </p:spPr>
        <p:txBody>
          <a:bodyPr wrap="square" rtlCol="0" anchor="ctr"/>
          <a:lstStyle/>
          <a:p>
            <a:pPr marL="0" indent="0">
              <a:buNone/>
            </a:pPr>
            <a:r>
              <a:rPr lang="en-US" sz="1100" dirty="0">
                <a:solidFill>
                  <a:schemeClr val="bg1">
                    <a:lumMod val="85000"/>
                  </a:schemeClr>
                </a:solidFill>
                <a:latin typeface="Calibri" pitchFamily="34" charset="0"/>
                <a:ea typeface="Calibri" pitchFamily="34" charset="-122"/>
                <a:cs typeface="Calibri" pitchFamily="34" charset="-120"/>
              </a:rPr>
              <a:t>Algorithme en 3 étapes : tasser → fusionner → retasser</a:t>
            </a:r>
            <a:endParaRPr lang="en-US" sz="1100" dirty="0">
              <a:solidFill>
                <a:schemeClr val="bg1">
                  <a:lumMod val="85000"/>
                </a:schemeClr>
              </a:solidFill>
            </a:endParaRPr>
          </a:p>
        </p:txBody>
      </p:sp>
      <p:sp>
        <p:nvSpPr>
          <p:cNvPr id="8" name="Shape 4"/>
          <p:cNvSpPr/>
          <p:nvPr/>
        </p:nvSpPr>
        <p:spPr>
          <a:xfrm>
            <a:off x="365760" y="2048256"/>
            <a:ext cx="8412480" cy="804672"/>
          </a:xfrm>
          <a:prstGeom prst="rect">
            <a:avLst/>
          </a:prstGeom>
          <a:solidFill>
            <a:srgbClr val="1E293B"/>
          </a:solidFill>
          <a:ln/>
          <a:effectLst>
            <a:outerShdw blurRad="76200" dist="25400" dir="2700000" algn="bl" rotWithShape="0">
              <a:srgbClr val="000000">
                <a:alpha val="8000"/>
              </a:srgbClr>
            </a:outerShdw>
          </a:effectLst>
        </p:spPr>
        <p:txBody>
          <a:bodyPr/>
          <a:lstStyle/>
          <a:p>
            <a:endParaRPr lang="fr-FR"/>
          </a:p>
        </p:txBody>
      </p:sp>
      <p:pic>
        <p:nvPicPr>
          <p:cNvPr id="9" name="Image 2" descr="preencoded.png"/>
          <p:cNvPicPr>
            <a:picLocks noChangeAspect="1"/>
          </p:cNvPicPr>
          <p:nvPr/>
        </p:nvPicPr>
        <p:blipFill>
          <a:blip r:embed="rId5"/>
          <a:stretch>
            <a:fillRect/>
          </a:stretch>
        </p:blipFill>
        <p:spPr>
          <a:xfrm>
            <a:off x="502920" y="2212848"/>
            <a:ext cx="292608" cy="292608"/>
          </a:xfrm>
          <a:prstGeom prst="rect">
            <a:avLst/>
          </a:prstGeom>
        </p:spPr>
      </p:pic>
      <p:sp>
        <p:nvSpPr>
          <p:cNvPr id="10" name="Text 5"/>
          <p:cNvSpPr/>
          <p:nvPr/>
        </p:nvSpPr>
        <p:spPr>
          <a:xfrm>
            <a:off x="886968" y="2228797"/>
            <a:ext cx="3474720" cy="292608"/>
          </a:xfrm>
          <a:prstGeom prst="rect">
            <a:avLst/>
          </a:prstGeom>
          <a:noFill/>
          <a:ln/>
        </p:spPr>
        <p:txBody>
          <a:bodyPr wrap="square" rtlCol="0" anchor="ctr"/>
          <a:lstStyle/>
          <a:p>
            <a:pPr marL="0" indent="0">
              <a:buNone/>
            </a:pPr>
            <a:r>
              <a:rPr lang="en-US" sz="1200" b="1" dirty="0">
                <a:solidFill>
                  <a:schemeClr val="bg2"/>
                </a:solidFill>
                <a:latin typeface="Calibri" pitchFamily="34" charset="0"/>
                <a:ea typeface="Calibri" pitchFamily="34" charset="-122"/>
                <a:cs typeface="Calibri" pitchFamily="34" charset="-120"/>
              </a:rPr>
              <a:t>Déplacements haut/bas</a:t>
            </a:r>
            <a:endParaRPr lang="en-US" sz="1200" dirty="0">
              <a:solidFill>
                <a:schemeClr val="bg2"/>
              </a:solidFill>
            </a:endParaRPr>
          </a:p>
        </p:txBody>
      </p:sp>
      <p:pic>
        <p:nvPicPr>
          <p:cNvPr id="11" name="Image 3" descr="preencoded.png"/>
          <p:cNvPicPr>
            <a:picLocks noChangeAspect="1"/>
          </p:cNvPicPr>
          <p:nvPr/>
        </p:nvPicPr>
        <p:blipFill>
          <a:blip r:embed="rId4"/>
          <a:stretch>
            <a:fillRect/>
          </a:stretch>
        </p:blipFill>
        <p:spPr>
          <a:xfrm>
            <a:off x="4572000" y="2212848"/>
            <a:ext cx="292608" cy="292608"/>
          </a:xfrm>
          <a:prstGeom prst="rect">
            <a:avLst/>
          </a:prstGeom>
        </p:spPr>
      </p:pic>
      <p:sp>
        <p:nvSpPr>
          <p:cNvPr id="12" name="Text 6"/>
          <p:cNvSpPr/>
          <p:nvPr/>
        </p:nvSpPr>
        <p:spPr>
          <a:xfrm>
            <a:off x="4956048" y="2121408"/>
            <a:ext cx="3657600" cy="594360"/>
          </a:xfrm>
          <a:prstGeom prst="rect">
            <a:avLst/>
          </a:prstGeom>
          <a:noFill/>
          <a:ln/>
        </p:spPr>
        <p:txBody>
          <a:bodyPr wrap="square" rtlCol="0" anchor="ctr"/>
          <a:lstStyle/>
          <a:p>
            <a:pPr marL="0" indent="0">
              <a:buNone/>
            </a:pPr>
            <a:r>
              <a:rPr lang="en-US" sz="1100" dirty="0">
                <a:solidFill>
                  <a:schemeClr val="bg1">
                    <a:lumMod val="85000"/>
                  </a:schemeClr>
                </a:solidFill>
                <a:latin typeface="Calibri" pitchFamily="34" charset="0"/>
                <a:ea typeface="Calibri" pitchFamily="34" charset="-122"/>
                <a:cs typeface="Calibri" pitchFamily="34" charset="-120"/>
              </a:rPr>
              <a:t>Transposer la logique ligne → colonne</a:t>
            </a:r>
            <a:endParaRPr lang="en-US" sz="1100" dirty="0">
              <a:solidFill>
                <a:schemeClr val="bg1">
                  <a:lumMod val="85000"/>
                </a:schemeClr>
              </a:solidFill>
            </a:endParaRPr>
          </a:p>
        </p:txBody>
      </p:sp>
      <p:sp>
        <p:nvSpPr>
          <p:cNvPr id="13" name="Shape 7"/>
          <p:cNvSpPr/>
          <p:nvPr/>
        </p:nvSpPr>
        <p:spPr>
          <a:xfrm>
            <a:off x="365760" y="2980944"/>
            <a:ext cx="8412480" cy="804672"/>
          </a:xfrm>
          <a:prstGeom prst="rect">
            <a:avLst/>
          </a:prstGeom>
          <a:solidFill>
            <a:srgbClr val="1E293B"/>
          </a:solidFill>
          <a:ln/>
          <a:effectLst>
            <a:outerShdw blurRad="76200" dist="25400" dir="2700000" algn="bl" rotWithShape="0">
              <a:srgbClr val="000000">
                <a:alpha val="8000"/>
              </a:srgbClr>
            </a:outerShdw>
          </a:effectLst>
        </p:spPr>
        <p:txBody>
          <a:bodyPr/>
          <a:lstStyle/>
          <a:p>
            <a:endParaRPr lang="fr-FR"/>
          </a:p>
        </p:txBody>
      </p:sp>
      <p:pic>
        <p:nvPicPr>
          <p:cNvPr id="14" name="Image 4" descr="preencoded.png"/>
          <p:cNvPicPr>
            <a:picLocks noChangeAspect="1"/>
          </p:cNvPicPr>
          <p:nvPr/>
        </p:nvPicPr>
        <p:blipFill>
          <a:blip r:embed="rId6"/>
          <a:stretch>
            <a:fillRect/>
          </a:stretch>
        </p:blipFill>
        <p:spPr>
          <a:xfrm>
            <a:off x="502920" y="3145536"/>
            <a:ext cx="292608" cy="292608"/>
          </a:xfrm>
          <a:prstGeom prst="rect">
            <a:avLst/>
          </a:prstGeom>
        </p:spPr>
      </p:pic>
      <p:sp>
        <p:nvSpPr>
          <p:cNvPr id="15" name="Text 8"/>
          <p:cNvSpPr/>
          <p:nvPr/>
        </p:nvSpPr>
        <p:spPr>
          <a:xfrm>
            <a:off x="886968" y="3145536"/>
            <a:ext cx="3474720" cy="292608"/>
          </a:xfrm>
          <a:prstGeom prst="rect">
            <a:avLst/>
          </a:prstGeom>
          <a:noFill/>
          <a:ln/>
        </p:spPr>
        <p:txBody>
          <a:bodyPr wrap="square" rtlCol="0" anchor="ctr"/>
          <a:lstStyle/>
          <a:p>
            <a:pPr marL="0" indent="0">
              <a:buNone/>
            </a:pPr>
            <a:r>
              <a:rPr lang="en-US" sz="1200" b="1" dirty="0">
                <a:solidFill>
                  <a:schemeClr val="bg2"/>
                </a:solidFill>
                <a:latin typeface="Calibri" pitchFamily="34" charset="0"/>
                <a:ea typeface="Calibri" pitchFamily="34" charset="-122"/>
                <a:cs typeface="Calibri" pitchFamily="34" charset="-120"/>
              </a:rPr>
              <a:t>Sauvegarde multi-taille</a:t>
            </a:r>
            <a:endParaRPr lang="en-US" sz="1200" dirty="0">
              <a:solidFill>
                <a:schemeClr val="bg2"/>
              </a:solidFill>
            </a:endParaRPr>
          </a:p>
        </p:txBody>
      </p:sp>
      <p:pic>
        <p:nvPicPr>
          <p:cNvPr id="16" name="Image 5" descr="preencoded.png"/>
          <p:cNvPicPr>
            <a:picLocks noChangeAspect="1"/>
          </p:cNvPicPr>
          <p:nvPr/>
        </p:nvPicPr>
        <p:blipFill>
          <a:blip r:embed="rId4"/>
          <a:stretch>
            <a:fillRect/>
          </a:stretch>
        </p:blipFill>
        <p:spPr>
          <a:xfrm>
            <a:off x="4572000" y="3145536"/>
            <a:ext cx="292608" cy="292608"/>
          </a:xfrm>
          <a:prstGeom prst="rect">
            <a:avLst/>
          </a:prstGeom>
        </p:spPr>
      </p:pic>
      <p:sp>
        <p:nvSpPr>
          <p:cNvPr id="17" name="Text 9"/>
          <p:cNvSpPr/>
          <p:nvPr/>
        </p:nvSpPr>
        <p:spPr>
          <a:xfrm>
            <a:off x="4956048" y="3054096"/>
            <a:ext cx="3657600" cy="594360"/>
          </a:xfrm>
          <a:prstGeom prst="rect">
            <a:avLst/>
          </a:prstGeom>
          <a:noFill/>
          <a:ln/>
        </p:spPr>
        <p:txBody>
          <a:bodyPr wrap="square" rtlCol="0" anchor="ctr"/>
          <a:lstStyle/>
          <a:p>
            <a:pPr marL="0" indent="0">
              <a:buNone/>
            </a:pPr>
            <a:r>
              <a:rPr lang="en-US" sz="1100" dirty="0">
                <a:solidFill>
                  <a:schemeClr val="bg1">
                    <a:lumMod val="85000"/>
                  </a:schemeClr>
                </a:solidFill>
                <a:latin typeface="Calibri" pitchFamily="34" charset="0"/>
                <a:ea typeface="Calibri" pitchFamily="34" charset="-122"/>
                <a:cs typeface="Calibri" pitchFamily="34" charset="-120"/>
              </a:rPr>
              <a:t>Stocker la TAILLE dans save.txt, recréer la grille avant le </a:t>
            </a:r>
            <a:r>
              <a:rPr lang="en-US" sz="1100" dirty="0" err="1">
                <a:solidFill>
                  <a:schemeClr val="bg1">
                    <a:lumMod val="85000"/>
                  </a:schemeClr>
                </a:solidFill>
                <a:latin typeface="Calibri" pitchFamily="34" charset="0"/>
                <a:ea typeface="Calibri" pitchFamily="34" charset="-122"/>
                <a:cs typeface="Calibri" pitchFamily="34" charset="-120"/>
              </a:rPr>
              <a:t>chargement</a:t>
            </a:r>
            <a:r>
              <a:rPr lang="en-US" sz="1100" dirty="0">
                <a:solidFill>
                  <a:schemeClr val="bg1">
                    <a:lumMod val="85000"/>
                  </a:schemeClr>
                </a:solidFill>
                <a:latin typeface="Calibri" pitchFamily="34" charset="0"/>
                <a:ea typeface="Calibri" pitchFamily="34" charset="-122"/>
                <a:cs typeface="Calibri" pitchFamily="34" charset="-120"/>
              </a:rPr>
              <a:t> pour </a:t>
            </a:r>
            <a:r>
              <a:rPr lang="en-US" sz="1100" dirty="0" err="1">
                <a:solidFill>
                  <a:schemeClr val="bg1">
                    <a:lumMod val="85000"/>
                  </a:schemeClr>
                </a:solidFill>
                <a:latin typeface="Calibri" pitchFamily="34" charset="0"/>
                <a:ea typeface="Calibri" pitchFamily="34" charset="-122"/>
                <a:cs typeface="Calibri" pitchFamily="34" charset="-120"/>
              </a:rPr>
              <a:t>éviter</a:t>
            </a:r>
            <a:r>
              <a:rPr lang="en-US" sz="1100" dirty="0">
                <a:solidFill>
                  <a:schemeClr val="bg1">
                    <a:lumMod val="85000"/>
                  </a:schemeClr>
                </a:solidFill>
                <a:latin typeface="Calibri" pitchFamily="34" charset="0"/>
                <a:ea typeface="Calibri" pitchFamily="34" charset="-122"/>
                <a:cs typeface="Calibri" pitchFamily="34" charset="-120"/>
              </a:rPr>
              <a:t> </a:t>
            </a:r>
            <a:r>
              <a:rPr lang="en-US" sz="1100" dirty="0" err="1">
                <a:solidFill>
                  <a:schemeClr val="bg1">
                    <a:lumMod val="85000"/>
                  </a:schemeClr>
                </a:solidFill>
                <a:latin typeface="Calibri" pitchFamily="34" charset="0"/>
                <a:ea typeface="Calibri" pitchFamily="34" charset="-122"/>
                <a:cs typeface="Calibri" pitchFamily="34" charset="-120"/>
              </a:rPr>
              <a:t>une</a:t>
            </a:r>
            <a:r>
              <a:rPr lang="en-US" sz="1100" dirty="0">
                <a:solidFill>
                  <a:schemeClr val="bg1">
                    <a:lumMod val="85000"/>
                  </a:schemeClr>
                </a:solidFill>
                <a:latin typeface="Calibri" pitchFamily="34" charset="0"/>
                <a:ea typeface="Calibri" pitchFamily="34" charset="-122"/>
                <a:cs typeface="Calibri" pitchFamily="34" charset="-120"/>
              </a:rPr>
              <a:t> </a:t>
            </a:r>
            <a:r>
              <a:rPr lang="en-US" sz="1100" dirty="0" err="1">
                <a:solidFill>
                  <a:schemeClr val="bg1">
                    <a:lumMod val="85000"/>
                  </a:schemeClr>
                </a:solidFill>
                <a:latin typeface="Calibri" pitchFamily="34" charset="0"/>
                <a:ea typeface="Calibri" pitchFamily="34" charset="-122"/>
                <a:cs typeface="Calibri" pitchFamily="34" charset="-120"/>
              </a:rPr>
              <a:t>mauvaise</a:t>
            </a:r>
            <a:r>
              <a:rPr lang="en-US" sz="1100" dirty="0">
                <a:solidFill>
                  <a:schemeClr val="bg1">
                    <a:lumMod val="85000"/>
                  </a:schemeClr>
                </a:solidFill>
                <a:latin typeface="Calibri" pitchFamily="34" charset="0"/>
                <a:ea typeface="Calibri" pitchFamily="34" charset="-122"/>
                <a:cs typeface="Calibri" pitchFamily="34" charset="-120"/>
              </a:rPr>
              <a:t> taille</a:t>
            </a:r>
            <a:endParaRPr lang="en-US" sz="1100" dirty="0">
              <a:solidFill>
                <a:schemeClr val="bg1">
                  <a:lumMod val="85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24332781-9CC7-A4F0-61A6-07B693DEA830}"/>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4BD28DE6-2AAB-3FC1-5C6C-8913989AE22F}"/>
              </a:ext>
            </a:extLst>
          </p:cNvPr>
          <p:cNvSpPr/>
          <p:nvPr/>
        </p:nvSpPr>
        <p:spPr>
          <a:xfrm>
            <a:off x="1648046" y="223284"/>
            <a:ext cx="5847907" cy="594360"/>
          </a:xfrm>
          <a:prstGeom prst="rect">
            <a:avLst/>
          </a:prstGeom>
          <a:noFill/>
          <a:ln/>
        </p:spPr>
        <p:txBody>
          <a:bodyPr wrap="square"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Ma </a:t>
            </a:r>
            <a:r>
              <a:rPr lang="en-US" sz="2800" b="1" dirty="0" err="1">
                <a:solidFill>
                  <a:srgbClr val="FFFFFF"/>
                </a:solidFill>
                <a:latin typeface="Cambria" pitchFamily="34" charset="0"/>
                <a:ea typeface="Cambria" pitchFamily="34" charset="-122"/>
                <a:cs typeface="Cambria" pitchFamily="34" charset="-120"/>
              </a:rPr>
              <a:t>partie</a:t>
            </a:r>
            <a:r>
              <a:rPr lang="en-US" sz="2800" b="1" dirty="0">
                <a:solidFill>
                  <a:srgbClr val="FFFFFF"/>
                </a:solidFill>
                <a:latin typeface="Cambria" pitchFamily="34" charset="0"/>
                <a:ea typeface="Cambria" pitchFamily="34" charset="-122"/>
                <a:cs typeface="Cambria" pitchFamily="34" charset="-120"/>
              </a:rPr>
              <a:t> de code </a:t>
            </a:r>
            <a:r>
              <a:rPr lang="en-US" sz="2800" b="1" dirty="0" err="1">
                <a:solidFill>
                  <a:srgbClr val="FFFFFF"/>
                </a:solidFill>
                <a:latin typeface="Cambria" pitchFamily="34" charset="0"/>
                <a:ea typeface="Cambria" pitchFamily="34" charset="-122"/>
                <a:cs typeface="Cambria" pitchFamily="34" charset="-120"/>
              </a:rPr>
              <a:t>préférée</a:t>
            </a:r>
            <a:endParaRPr lang="en-US" sz="2800" dirty="0"/>
          </a:p>
        </p:txBody>
      </p:sp>
      <p:pic>
        <p:nvPicPr>
          <p:cNvPr id="4" name="Image 3">
            <a:extLst>
              <a:ext uri="{FF2B5EF4-FFF2-40B4-BE49-F238E27FC236}">
                <a16:creationId xmlns:a16="http://schemas.microsoft.com/office/drawing/2014/main" id="{CD3259E5-23DC-DE6F-22FA-7CF11611CD9C}"/>
              </a:ext>
            </a:extLst>
          </p:cNvPr>
          <p:cNvPicPr>
            <a:picLocks noChangeAspect="1"/>
          </p:cNvPicPr>
          <p:nvPr/>
        </p:nvPicPr>
        <p:blipFill>
          <a:blip r:embed="rId3"/>
          <a:stretch>
            <a:fillRect/>
          </a:stretch>
        </p:blipFill>
        <p:spPr>
          <a:xfrm>
            <a:off x="1503201" y="929302"/>
            <a:ext cx="6137598" cy="3990914"/>
          </a:xfrm>
          <a:prstGeom prst="rect">
            <a:avLst/>
          </a:prstGeom>
          <a:ln w="38100" cap="sq">
            <a:solidFill>
              <a:schemeClr val="accent1">
                <a:lumMod val="75000"/>
              </a:schemeClr>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688034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4663440"/>
            <a:ext cx="9144000" cy="480060"/>
          </a:xfrm>
          <a:prstGeom prst="rect">
            <a:avLst/>
          </a:prstGeom>
          <a:solidFill>
            <a:srgbClr val="3B82F6"/>
          </a:solidFill>
          <a:ln/>
        </p:spPr>
        <p:txBody>
          <a:bodyPr/>
          <a:lstStyle/>
          <a:p>
            <a:endParaRPr lang="fr-FR"/>
          </a:p>
        </p:txBody>
      </p:sp>
      <p:sp>
        <p:nvSpPr>
          <p:cNvPr id="3" name="Text 1"/>
          <p:cNvSpPr/>
          <p:nvPr/>
        </p:nvSpPr>
        <p:spPr>
          <a:xfrm>
            <a:off x="548640" y="274320"/>
            <a:ext cx="7315200" cy="640080"/>
          </a:xfrm>
          <a:prstGeom prst="rect">
            <a:avLst/>
          </a:prstGeom>
          <a:noFill/>
          <a:ln/>
        </p:spPr>
        <p:txBody>
          <a:bodyPr wrap="square" rtlCol="0" anchor="ctr"/>
          <a:lstStyle/>
          <a:p>
            <a:pPr marL="0" indent="0" algn="ctr">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4" name="Shape 2"/>
          <p:cNvSpPr/>
          <p:nvPr/>
        </p:nvSpPr>
        <p:spPr>
          <a:xfrm>
            <a:off x="365760" y="1005840"/>
            <a:ext cx="2651760" cy="3291840"/>
          </a:xfrm>
          <a:prstGeom prst="rect">
            <a:avLst/>
          </a:prstGeom>
          <a:solidFill>
            <a:srgbClr val="1E293B"/>
          </a:solidFill>
          <a:ln/>
        </p:spPr>
        <p:txBody>
          <a:bodyPr/>
          <a:lstStyle/>
          <a:p>
            <a:endParaRPr lang="fr-FR"/>
          </a:p>
        </p:txBody>
      </p:sp>
      <p:sp>
        <p:nvSpPr>
          <p:cNvPr id="5" name="Shape 3"/>
          <p:cNvSpPr/>
          <p:nvPr/>
        </p:nvSpPr>
        <p:spPr>
          <a:xfrm>
            <a:off x="365760" y="1005840"/>
            <a:ext cx="2651760" cy="347472"/>
          </a:xfrm>
          <a:prstGeom prst="rect">
            <a:avLst/>
          </a:prstGeom>
          <a:solidFill>
            <a:srgbClr val="3B82F6"/>
          </a:solidFill>
          <a:ln/>
        </p:spPr>
        <p:txBody>
          <a:bodyPr/>
          <a:lstStyle/>
          <a:p>
            <a:endParaRPr lang="fr-FR"/>
          </a:p>
        </p:txBody>
      </p:sp>
      <p:sp>
        <p:nvSpPr>
          <p:cNvPr id="6" name="Text 4"/>
          <p:cNvSpPr/>
          <p:nvPr/>
        </p:nvSpPr>
        <p:spPr>
          <a:xfrm>
            <a:off x="457200" y="1005840"/>
            <a:ext cx="246888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Ce que j'ai appris</a:t>
            </a:r>
            <a:endParaRPr lang="en-US" sz="1100" dirty="0"/>
          </a:p>
        </p:txBody>
      </p:sp>
      <p:sp>
        <p:nvSpPr>
          <p:cNvPr id="7" name="Text 5"/>
          <p:cNvSpPr/>
          <p:nvPr/>
        </p:nvSpPr>
        <p:spPr>
          <a:xfrm>
            <a:off x="530352" y="1444752"/>
            <a:ext cx="2359152" cy="2743200"/>
          </a:xfrm>
          <a:prstGeom prst="rect">
            <a:avLst/>
          </a:prstGeom>
          <a:noFill/>
          <a:ln/>
        </p:spPr>
        <p:txBody>
          <a:bodyPr wrap="square" rtlCol="0" anchor="t"/>
          <a:lstStyle/>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Allocation </a:t>
            </a:r>
            <a:r>
              <a:rPr lang="en-US" sz="1100" dirty="0" err="1">
                <a:solidFill>
                  <a:srgbClr val="CBD5E1"/>
                </a:solidFill>
                <a:latin typeface="Calibri" pitchFamily="34" charset="0"/>
                <a:ea typeface="Calibri" pitchFamily="34" charset="-122"/>
                <a:cs typeface="Calibri" pitchFamily="34" charset="-120"/>
              </a:rPr>
              <a:t>dynamique</a:t>
            </a:r>
            <a:r>
              <a:rPr lang="en-US" sz="1100" dirty="0">
                <a:solidFill>
                  <a:srgbClr val="CBD5E1"/>
                </a:solidFill>
                <a:latin typeface="Calibri" pitchFamily="34" charset="0"/>
                <a:ea typeface="Calibri" pitchFamily="34" charset="-122"/>
                <a:cs typeface="Calibri" pitchFamily="34" charset="-120"/>
              </a:rPr>
              <a:t> </a:t>
            </a:r>
            <a:endParaRPr lang="en-US" sz="1100" dirty="0"/>
          </a:p>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Multi-fichiers en C</a:t>
            </a:r>
            <a:endParaRPr lang="en-US" sz="1100" dirty="0"/>
          </a:p>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Gestion d'erreurs (errno)</a:t>
            </a:r>
            <a:endParaRPr lang="en-US" sz="1100" dirty="0"/>
          </a:p>
          <a:p>
            <a:pPr marL="342900" indent="-342900">
              <a:spcAft>
                <a:spcPts val="800"/>
              </a:spcAft>
              <a:buSzPct val="100000"/>
              <a:buChar char="•"/>
            </a:pPr>
            <a:r>
              <a:rPr lang="en-US" sz="1100" dirty="0" err="1">
                <a:solidFill>
                  <a:srgbClr val="CBD5E1"/>
                </a:solidFill>
                <a:latin typeface="Calibri" pitchFamily="34" charset="0"/>
                <a:ea typeface="Calibri" pitchFamily="34" charset="-122"/>
                <a:cs typeface="Calibri" pitchFamily="34" charset="-120"/>
              </a:rPr>
              <a:t>Débogage</a:t>
            </a:r>
            <a:r>
              <a:rPr lang="en-US" sz="1100" dirty="0">
                <a:solidFill>
                  <a:srgbClr val="CBD5E1"/>
                </a:solidFill>
                <a:latin typeface="Calibri" pitchFamily="34" charset="0"/>
                <a:ea typeface="Calibri" pitchFamily="34" charset="-122"/>
                <a:cs typeface="Calibri" pitchFamily="34" charset="-120"/>
              </a:rPr>
              <a:t> runtime</a:t>
            </a:r>
          </a:p>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Lecture de </a:t>
            </a:r>
            <a:r>
              <a:rPr lang="en-US" sz="1100" dirty="0" err="1">
                <a:solidFill>
                  <a:srgbClr val="CBD5E1"/>
                </a:solidFill>
                <a:latin typeface="Calibri" pitchFamily="34" charset="0"/>
                <a:ea typeface="Calibri" pitchFamily="34" charset="-122"/>
                <a:cs typeface="Calibri" pitchFamily="34" charset="-120"/>
              </a:rPr>
              <a:t>fichier</a:t>
            </a:r>
            <a:r>
              <a:rPr lang="en-US" sz="1100" dirty="0">
                <a:solidFill>
                  <a:srgbClr val="CBD5E1"/>
                </a:solidFill>
                <a:latin typeface="Calibri" pitchFamily="34" charset="0"/>
                <a:ea typeface="Calibri" pitchFamily="34" charset="-122"/>
                <a:cs typeface="Calibri" pitchFamily="34" charset="-120"/>
              </a:rPr>
              <a:t> </a:t>
            </a:r>
            <a:r>
              <a:rPr lang="en-US" sz="1100" dirty="0" err="1">
                <a:solidFill>
                  <a:srgbClr val="CBD5E1"/>
                </a:solidFill>
                <a:latin typeface="Calibri" pitchFamily="34" charset="0"/>
                <a:ea typeface="Calibri" pitchFamily="34" charset="-122"/>
                <a:cs typeface="Calibri" pitchFamily="34" charset="-120"/>
              </a:rPr>
              <a:t>en</a:t>
            </a:r>
            <a:r>
              <a:rPr lang="en-US" sz="1100" dirty="0">
                <a:solidFill>
                  <a:srgbClr val="CBD5E1"/>
                </a:solidFill>
                <a:latin typeface="Calibri" pitchFamily="34" charset="0"/>
                <a:ea typeface="Calibri" pitchFamily="34" charset="-122"/>
                <a:cs typeface="Calibri" pitchFamily="34" charset="-120"/>
              </a:rPr>
              <a:t> C</a:t>
            </a:r>
            <a:endParaRPr lang="en-US" sz="1100" dirty="0"/>
          </a:p>
        </p:txBody>
      </p:sp>
      <p:sp>
        <p:nvSpPr>
          <p:cNvPr id="8" name="Shape 6"/>
          <p:cNvSpPr/>
          <p:nvPr/>
        </p:nvSpPr>
        <p:spPr>
          <a:xfrm>
            <a:off x="3200400" y="1005840"/>
            <a:ext cx="2651760" cy="3291840"/>
          </a:xfrm>
          <a:prstGeom prst="rect">
            <a:avLst/>
          </a:prstGeom>
          <a:solidFill>
            <a:srgbClr val="1E293B"/>
          </a:solidFill>
          <a:ln/>
        </p:spPr>
        <p:txBody>
          <a:bodyPr/>
          <a:lstStyle/>
          <a:p>
            <a:endParaRPr lang="fr-FR"/>
          </a:p>
        </p:txBody>
      </p:sp>
      <p:sp>
        <p:nvSpPr>
          <p:cNvPr id="9" name="Shape 7"/>
          <p:cNvSpPr/>
          <p:nvPr/>
        </p:nvSpPr>
        <p:spPr>
          <a:xfrm>
            <a:off x="3200400" y="1005840"/>
            <a:ext cx="2651760" cy="347472"/>
          </a:xfrm>
          <a:prstGeom prst="rect">
            <a:avLst/>
          </a:prstGeom>
          <a:solidFill>
            <a:srgbClr val="22C55E"/>
          </a:solidFill>
          <a:ln/>
        </p:spPr>
        <p:txBody>
          <a:bodyPr/>
          <a:lstStyle/>
          <a:p>
            <a:endParaRPr lang="fr-FR"/>
          </a:p>
        </p:txBody>
      </p:sp>
      <p:sp>
        <p:nvSpPr>
          <p:cNvPr id="10" name="Text 8"/>
          <p:cNvSpPr/>
          <p:nvPr/>
        </p:nvSpPr>
        <p:spPr>
          <a:xfrm>
            <a:off x="3291840" y="1005840"/>
            <a:ext cx="246888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Résultat final</a:t>
            </a:r>
            <a:endParaRPr lang="en-US" sz="1100" dirty="0"/>
          </a:p>
        </p:txBody>
      </p:sp>
      <p:sp>
        <p:nvSpPr>
          <p:cNvPr id="11" name="Text 9"/>
          <p:cNvSpPr/>
          <p:nvPr/>
        </p:nvSpPr>
        <p:spPr>
          <a:xfrm>
            <a:off x="3364992" y="1444752"/>
            <a:ext cx="2359152" cy="2743200"/>
          </a:xfrm>
          <a:prstGeom prst="rect">
            <a:avLst/>
          </a:prstGeom>
          <a:noFill/>
          <a:ln/>
        </p:spPr>
        <p:txBody>
          <a:bodyPr wrap="square" rtlCol="0" anchor="t"/>
          <a:lstStyle/>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Jeu 2048 fonctionnel</a:t>
            </a:r>
            <a:endParaRPr lang="en-US" sz="1100" dirty="0"/>
          </a:p>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Grille 3×3 / 4×4 / 5×5</a:t>
            </a:r>
            <a:endParaRPr lang="en-US" sz="1100" dirty="0"/>
          </a:p>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Sauvegarde / chargement</a:t>
            </a:r>
            <a:endParaRPr lang="en-US" sz="1100" dirty="0"/>
          </a:p>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Affichage coloré en console</a:t>
            </a:r>
            <a:endParaRPr lang="en-US" sz="1100" dirty="0"/>
          </a:p>
        </p:txBody>
      </p:sp>
      <p:sp>
        <p:nvSpPr>
          <p:cNvPr id="12" name="Shape 10"/>
          <p:cNvSpPr/>
          <p:nvPr/>
        </p:nvSpPr>
        <p:spPr>
          <a:xfrm>
            <a:off x="6035040" y="1005840"/>
            <a:ext cx="2651760" cy="3291840"/>
          </a:xfrm>
          <a:prstGeom prst="rect">
            <a:avLst/>
          </a:prstGeom>
          <a:solidFill>
            <a:srgbClr val="1E293B"/>
          </a:solidFill>
          <a:ln/>
        </p:spPr>
        <p:txBody>
          <a:bodyPr/>
          <a:lstStyle/>
          <a:p>
            <a:endParaRPr lang="fr-FR"/>
          </a:p>
        </p:txBody>
      </p:sp>
      <p:sp>
        <p:nvSpPr>
          <p:cNvPr id="13" name="Shape 11"/>
          <p:cNvSpPr/>
          <p:nvPr/>
        </p:nvSpPr>
        <p:spPr>
          <a:xfrm>
            <a:off x="6035040" y="1005840"/>
            <a:ext cx="2651760" cy="347472"/>
          </a:xfrm>
          <a:prstGeom prst="rect">
            <a:avLst/>
          </a:prstGeom>
          <a:solidFill>
            <a:srgbClr val="F97316"/>
          </a:solidFill>
          <a:ln/>
        </p:spPr>
        <p:txBody>
          <a:bodyPr/>
          <a:lstStyle/>
          <a:p>
            <a:endParaRPr lang="fr-FR"/>
          </a:p>
        </p:txBody>
      </p:sp>
      <p:sp>
        <p:nvSpPr>
          <p:cNvPr id="14" name="Text 12"/>
          <p:cNvSpPr/>
          <p:nvPr/>
        </p:nvSpPr>
        <p:spPr>
          <a:xfrm>
            <a:off x="6126480" y="1005840"/>
            <a:ext cx="246888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Améliorations possibles</a:t>
            </a:r>
            <a:endParaRPr lang="en-US" sz="1100" dirty="0"/>
          </a:p>
        </p:txBody>
      </p:sp>
      <p:sp>
        <p:nvSpPr>
          <p:cNvPr id="15" name="Text 13"/>
          <p:cNvSpPr/>
          <p:nvPr/>
        </p:nvSpPr>
        <p:spPr>
          <a:xfrm>
            <a:off x="6199632" y="1444752"/>
            <a:ext cx="2359152" cy="2743200"/>
          </a:xfrm>
          <a:prstGeom prst="rect">
            <a:avLst/>
          </a:prstGeom>
          <a:noFill/>
          <a:ln/>
        </p:spPr>
        <p:txBody>
          <a:bodyPr wrap="square" rtlCol="0" anchor="t"/>
          <a:lstStyle/>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Interface </a:t>
            </a:r>
            <a:r>
              <a:rPr lang="en-US" sz="1100" dirty="0" err="1">
                <a:solidFill>
                  <a:srgbClr val="CBD5E1"/>
                </a:solidFill>
                <a:latin typeface="Calibri" pitchFamily="34" charset="0"/>
                <a:ea typeface="Calibri" pitchFamily="34" charset="-122"/>
                <a:cs typeface="Calibri" pitchFamily="34" charset="-120"/>
              </a:rPr>
              <a:t>graphique</a:t>
            </a:r>
            <a:r>
              <a:rPr lang="en-US" sz="1100" dirty="0">
                <a:solidFill>
                  <a:srgbClr val="CBD5E1"/>
                </a:solidFill>
                <a:latin typeface="Calibri" pitchFamily="34" charset="0"/>
                <a:ea typeface="Calibri" pitchFamily="34" charset="-122"/>
                <a:cs typeface="Calibri" pitchFamily="34" charset="-120"/>
              </a:rPr>
              <a:t> </a:t>
            </a:r>
            <a:endParaRPr lang="en-US" sz="1100" dirty="0"/>
          </a:p>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Intelligence artificielle</a:t>
            </a:r>
            <a:endParaRPr lang="en-US" sz="1100" dirty="0"/>
          </a:p>
          <a:p>
            <a:pPr marL="342900" indent="-342900">
              <a:spcAft>
                <a:spcPts val="800"/>
              </a:spcAft>
              <a:buSzPct val="100000"/>
              <a:buChar char="•"/>
            </a:pPr>
            <a:r>
              <a:rPr lang="en-US" sz="1100" dirty="0">
                <a:solidFill>
                  <a:srgbClr val="CBD5E1"/>
                </a:solidFill>
                <a:latin typeface="Calibri" pitchFamily="34" charset="0"/>
                <a:ea typeface="Calibri" pitchFamily="34" charset="-122"/>
                <a:cs typeface="Calibri" pitchFamily="34" charset="-120"/>
              </a:rPr>
              <a:t>Animations de fusion</a:t>
            </a:r>
            <a:endParaRPr lang="en-US" sz="1100" dirty="0"/>
          </a:p>
        </p:txBody>
      </p:sp>
      <p:sp>
        <p:nvSpPr>
          <p:cNvPr id="16" name="Text 14"/>
          <p:cNvSpPr/>
          <p:nvPr/>
        </p:nvSpPr>
        <p:spPr>
          <a:xfrm>
            <a:off x="0" y="4729734"/>
            <a:ext cx="9144000"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Merci pour votre attention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809</Words>
  <Application>Microsoft Office PowerPoint</Application>
  <PresentationFormat>Affichage à l'écran (16:9)</PresentationFormat>
  <Paragraphs>90</Paragraphs>
  <Slides>7</Slides>
  <Notes>7</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7</vt:i4>
      </vt:variant>
    </vt:vector>
  </HeadingPairs>
  <TitlesOfParts>
    <vt:vector size="11" baseType="lpstr">
      <vt:lpstr>Arial</vt:lpstr>
      <vt:lpstr>Calibri</vt:lpstr>
      <vt:lpstr>Cambria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Projet 2048 en C – Ynov</dc:title>
  <dc:subject>PptxGenJS Presentation</dc:subject>
  <dc:creator>Hugo</dc:creator>
  <cp:lastModifiedBy>Hugo Schmaltz</cp:lastModifiedBy>
  <cp:revision>13</cp:revision>
  <dcterms:created xsi:type="dcterms:W3CDTF">2026-06-12T09:27:05Z</dcterms:created>
  <dcterms:modified xsi:type="dcterms:W3CDTF">2026-06-15T11:49:01Z</dcterms:modified>
</cp:coreProperties>
</file>